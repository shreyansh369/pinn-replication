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3.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ee6a21f-94ef-94ec-8bfe-2ad6bc2075da}">
          <p14:sldIdLst>
            <p14:sldId id="256"/>
            <p14:sldId id="257"/>
          </p14:sldIdLst>
        </p14:section>
        <p14:section name="Investigation" id="{8a428a6b-f9ac-9171-9c12-2949791212ee}">
          <p14:sldIdLst>
            <p14:sldId id="258"/>
            <p14:sldId id="259"/>
            <p14:sldId id="260"/>
            <p14:sldId id="261"/>
            <p14:sldId id="262"/>
          </p14:sldIdLst>
        </p14:section>
        <p14:section name="Conclusion" id="{960a3c05-800a-e0d3-c660-5209aab8670e}">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exact mid-span displacement</c:v>
                </c:pt>
              </c:strCache>
            </c:strRef>
          </c:tx>
          <c:spPr>
            <a:solidFill>
              <a:srgbClr val="E8743B"/>
            </a:solidFill>
            <a:ln w="19050" cap="flat">
              <a:solidFill>
                <a:srgbClr val="E87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43B"/>
              </a:solidFill>
              <a:ln w="9525" cap="flat">
                <a:solidFill>
                  <a:srgbClr val="E8743B"/>
                </a:solidFill>
                <a:prstDash val="solid"/>
                <a:round/>
              </a:ln>
              <a:effectLst/>
            </c:spPr>
          </c:marker>
          <c:cat>
            <c:multiLvlStrRef>
              <c:f>Sheet1!$A$2:$A$402</c:f>
              <c:multiLvlStrCache>
                <c:ptCount val="401"/>
                <c:lvl>
                  <c:pt idx="0">
                    <c:v>0.000</c:v>
                  </c:pt>
                  <c:pt idx="1">
                    <c:v>0.003</c:v>
                  </c:pt>
                  <c:pt idx="2">
                    <c:v>0.005</c:v>
                  </c:pt>
                  <c:pt idx="3">
                    <c:v>0.007</c:v>
                  </c:pt>
                  <c:pt idx="4">
                    <c:v>0.010</c:v>
                  </c:pt>
                  <c:pt idx="5">
                    <c:v>0.013</c:v>
                  </c:pt>
                  <c:pt idx="6">
                    <c:v>0.015</c:v>
                  </c:pt>
                  <c:pt idx="7">
                    <c:v>0.018</c:v>
                  </c:pt>
                  <c:pt idx="8">
                    <c:v>0.020</c:v>
                  </c:pt>
                  <c:pt idx="9">
                    <c:v>0.022</c:v>
                  </c:pt>
                  <c:pt idx="10">
                    <c:v>0.025</c:v>
                  </c:pt>
                  <c:pt idx="11">
                    <c:v>0.028</c:v>
                  </c:pt>
                  <c:pt idx="12">
                    <c:v>0.030</c:v>
                  </c:pt>
                  <c:pt idx="13">
                    <c:v>0.033</c:v>
                  </c:pt>
                  <c:pt idx="14">
                    <c:v>0.035</c:v>
                  </c:pt>
                  <c:pt idx="15">
                    <c:v>0.037</c:v>
                  </c:pt>
                  <c:pt idx="16">
                    <c:v>0.040</c:v>
                  </c:pt>
                  <c:pt idx="17">
                    <c:v>0.043</c:v>
                  </c:pt>
                  <c:pt idx="18">
                    <c:v>0.045</c:v>
                  </c:pt>
                  <c:pt idx="19">
                    <c:v>0.048</c:v>
                  </c:pt>
                  <c:pt idx="20">
                    <c:v>0.050</c:v>
                  </c:pt>
                  <c:pt idx="21">
                    <c:v>0.052</c:v>
                  </c:pt>
                  <c:pt idx="22">
                    <c:v>0.055</c:v>
                  </c:pt>
                  <c:pt idx="23">
                    <c:v>0.058</c:v>
                  </c:pt>
                  <c:pt idx="24">
                    <c:v>0.060</c:v>
                  </c:pt>
                  <c:pt idx="25">
                    <c:v>0.063</c:v>
                  </c:pt>
                  <c:pt idx="26">
                    <c:v>0.065</c:v>
                  </c:pt>
                  <c:pt idx="27">
                    <c:v>0.068</c:v>
                  </c:pt>
                  <c:pt idx="28">
                    <c:v>0.070</c:v>
                  </c:pt>
                  <c:pt idx="29">
                    <c:v>0.072</c:v>
                  </c:pt>
                  <c:pt idx="30">
                    <c:v>0.075</c:v>
                  </c:pt>
                  <c:pt idx="31">
                    <c:v>0.077</c:v>
                  </c:pt>
                  <c:pt idx="32">
                    <c:v>0.080</c:v>
                  </c:pt>
                  <c:pt idx="33">
                    <c:v>0.083</c:v>
                  </c:pt>
                  <c:pt idx="34">
                    <c:v>0.085</c:v>
                  </c:pt>
                  <c:pt idx="35">
                    <c:v>0.087</c:v>
                  </c:pt>
                  <c:pt idx="36">
                    <c:v>0.090</c:v>
                  </c:pt>
                  <c:pt idx="37">
                    <c:v>0.092</c:v>
                  </c:pt>
                  <c:pt idx="38">
                    <c:v>0.095</c:v>
                  </c:pt>
                  <c:pt idx="39">
                    <c:v>0.098</c:v>
                  </c:pt>
                  <c:pt idx="40">
                    <c:v>0.100</c:v>
                  </c:pt>
                  <c:pt idx="41">
                    <c:v>0.102</c:v>
                  </c:pt>
                  <c:pt idx="42">
                    <c:v>0.105</c:v>
                  </c:pt>
                  <c:pt idx="43">
                    <c:v>0.107</c:v>
                  </c:pt>
                  <c:pt idx="44">
                    <c:v>0.110</c:v>
                  </c:pt>
                  <c:pt idx="45">
                    <c:v>0.113</c:v>
                  </c:pt>
                  <c:pt idx="46">
                    <c:v>0.115</c:v>
                  </c:pt>
                  <c:pt idx="47">
                    <c:v>0.117</c:v>
                  </c:pt>
                  <c:pt idx="48">
                    <c:v>0.120</c:v>
                  </c:pt>
                  <c:pt idx="49">
                    <c:v>0.122</c:v>
                  </c:pt>
                  <c:pt idx="50">
                    <c:v>0.125</c:v>
                  </c:pt>
                  <c:pt idx="51">
                    <c:v>0.128</c:v>
                  </c:pt>
                  <c:pt idx="52">
                    <c:v>0.130</c:v>
                  </c:pt>
                  <c:pt idx="53">
                    <c:v>0.133</c:v>
                  </c:pt>
                  <c:pt idx="54">
                    <c:v>0.135</c:v>
                  </c:pt>
                  <c:pt idx="55">
                    <c:v>0.138</c:v>
                  </c:pt>
                  <c:pt idx="56">
                    <c:v>0.140</c:v>
                  </c:pt>
                  <c:pt idx="57">
                    <c:v>0.142</c:v>
                  </c:pt>
                  <c:pt idx="58">
                    <c:v>0.145</c:v>
                  </c:pt>
                  <c:pt idx="59">
                    <c:v>0.147</c:v>
                  </c:pt>
                  <c:pt idx="60">
                    <c:v>0.150</c:v>
                  </c:pt>
                  <c:pt idx="61">
                    <c:v>0.152</c:v>
                  </c:pt>
                  <c:pt idx="62">
                    <c:v>0.155</c:v>
                  </c:pt>
                  <c:pt idx="63">
                    <c:v>0.158</c:v>
                  </c:pt>
                  <c:pt idx="64">
                    <c:v>0.160</c:v>
                  </c:pt>
                  <c:pt idx="65">
                    <c:v>0.163</c:v>
                  </c:pt>
                  <c:pt idx="66">
                    <c:v>0.165</c:v>
                  </c:pt>
                  <c:pt idx="67">
                    <c:v>0.168</c:v>
                  </c:pt>
                  <c:pt idx="68">
                    <c:v>0.170</c:v>
                  </c:pt>
                  <c:pt idx="69">
                    <c:v>0.172</c:v>
                  </c:pt>
                  <c:pt idx="70">
                    <c:v>0.175</c:v>
                  </c:pt>
                  <c:pt idx="71">
                    <c:v>0.177</c:v>
                  </c:pt>
                  <c:pt idx="72">
                    <c:v>0.180</c:v>
                  </c:pt>
                  <c:pt idx="73">
                    <c:v>0.182</c:v>
                  </c:pt>
                  <c:pt idx="74">
                    <c:v>0.185</c:v>
                  </c:pt>
                  <c:pt idx="75">
                    <c:v>0.188</c:v>
                  </c:pt>
                  <c:pt idx="76">
                    <c:v>0.190</c:v>
                  </c:pt>
                  <c:pt idx="77">
                    <c:v>0.193</c:v>
                  </c:pt>
                  <c:pt idx="78">
                    <c:v>0.195</c:v>
                  </c:pt>
                  <c:pt idx="79">
                    <c:v>0.198</c:v>
                  </c:pt>
                  <c:pt idx="80">
                    <c:v>0.200</c:v>
                  </c:pt>
                  <c:pt idx="81">
                    <c:v>0.203</c:v>
                  </c:pt>
                  <c:pt idx="82">
                    <c:v>0.205</c:v>
                  </c:pt>
                  <c:pt idx="83">
                    <c:v>0.207</c:v>
                  </c:pt>
                  <c:pt idx="84">
                    <c:v>0.210</c:v>
                  </c:pt>
                  <c:pt idx="85">
                    <c:v>0.212</c:v>
                  </c:pt>
                  <c:pt idx="86">
                    <c:v>0.215</c:v>
                  </c:pt>
                  <c:pt idx="87">
                    <c:v>0.217</c:v>
                  </c:pt>
                  <c:pt idx="88">
                    <c:v>0.220</c:v>
                  </c:pt>
                  <c:pt idx="89">
                    <c:v>0.223</c:v>
                  </c:pt>
                  <c:pt idx="90">
                    <c:v>0.225</c:v>
                  </c:pt>
                  <c:pt idx="91">
                    <c:v>0.228</c:v>
                  </c:pt>
                  <c:pt idx="92">
                    <c:v>0.230</c:v>
                  </c:pt>
                  <c:pt idx="93">
                    <c:v>0.233</c:v>
                  </c:pt>
                  <c:pt idx="94">
                    <c:v>0.235</c:v>
                  </c:pt>
                  <c:pt idx="95">
                    <c:v>0.237</c:v>
                  </c:pt>
                  <c:pt idx="96">
                    <c:v>0.240</c:v>
                  </c:pt>
                  <c:pt idx="97">
                    <c:v>0.242</c:v>
                  </c:pt>
                  <c:pt idx="98">
                    <c:v>0.245</c:v>
                  </c:pt>
                  <c:pt idx="99">
                    <c:v>0.247</c:v>
                  </c:pt>
                  <c:pt idx="100">
                    <c:v>0.250</c:v>
                  </c:pt>
                  <c:pt idx="101">
                    <c:v>0.253</c:v>
                  </c:pt>
                  <c:pt idx="102">
                    <c:v>0.255</c:v>
                  </c:pt>
                  <c:pt idx="103">
                    <c:v>0.258</c:v>
                  </c:pt>
                  <c:pt idx="104">
                    <c:v>0.260</c:v>
                  </c:pt>
                  <c:pt idx="105">
                    <c:v>0.263</c:v>
                  </c:pt>
                  <c:pt idx="106">
                    <c:v>0.265</c:v>
                  </c:pt>
                  <c:pt idx="107">
                    <c:v>0.268</c:v>
                  </c:pt>
                  <c:pt idx="108">
                    <c:v>0.270</c:v>
                  </c:pt>
                  <c:pt idx="109">
                    <c:v>0.273</c:v>
                  </c:pt>
                  <c:pt idx="110">
                    <c:v>0.275</c:v>
                  </c:pt>
                  <c:pt idx="111">
                    <c:v>0.278</c:v>
                  </c:pt>
                  <c:pt idx="112">
                    <c:v>0.280</c:v>
                  </c:pt>
                  <c:pt idx="113">
                    <c:v>0.282</c:v>
                  </c:pt>
                  <c:pt idx="114">
                    <c:v>0.285</c:v>
                  </c:pt>
                  <c:pt idx="115">
                    <c:v>0.287</c:v>
                  </c:pt>
                  <c:pt idx="116">
                    <c:v>0.290</c:v>
                  </c:pt>
                  <c:pt idx="117">
                    <c:v>0.292</c:v>
                  </c:pt>
                  <c:pt idx="118">
                    <c:v>0.295</c:v>
                  </c:pt>
                  <c:pt idx="119">
                    <c:v>0.297</c:v>
                  </c:pt>
                  <c:pt idx="120">
                    <c:v>0.300</c:v>
                  </c:pt>
                  <c:pt idx="121">
                    <c:v>0.302</c:v>
                  </c:pt>
                  <c:pt idx="122">
                    <c:v>0.305</c:v>
                  </c:pt>
                  <c:pt idx="123">
                    <c:v>0.307</c:v>
                  </c:pt>
                  <c:pt idx="124">
                    <c:v>0.310</c:v>
                  </c:pt>
                  <c:pt idx="125">
                    <c:v>0.313</c:v>
                  </c:pt>
                  <c:pt idx="126">
                    <c:v>0.315</c:v>
                  </c:pt>
                  <c:pt idx="127">
                    <c:v>0.318</c:v>
                  </c:pt>
                  <c:pt idx="128">
                    <c:v>0.320</c:v>
                  </c:pt>
                  <c:pt idx="129">
                    <c:v>0.323</c:v>
                  </c:pt>
                  <c:pt idx="130">
                    <c:v>0.325</c:v>
                  </c:pt>
                  <c:pt idx="131">
                    <c:v>0.328</c:v>
                  </c:pt>
                  <c:pt idx="132">
                    <c:v>0.330</c:v>
                  </c:pt>
                  <c:pt idx="133">
                    <c:v>0.333</c:v>
                  </c:pt>
                  <c:pt idx="134">
                    <c:v>0.335</c:v>
                  </c:pt>
                  <c:pt idx="135">
                    <c:v>0.338</c:v>
                  </c:pt>
                  <c:pt idx="136">
                    <c:v>0.340</c:v>
                  </c:pt>
                  <c:pt idx="137">
                    <c:v>0.343</c:v>
                  </c:pt>
                  <c:pt idx="138">
                    <c:v>0.345</c:v>
                  </c:pt>
                  <c:pt idx="139">
                    <c:v>0.347</c:v>
                  </c:pt>
                  <c:pt idx="140">
                    <c:v>0.350</c:v>
                  </c:pt>
                  <c:pt idx="141">
                    <c:v>0.352</c:v>
                  </c:pt>
                  <c:pt idx="142">
                    <c:v>0.355</c:v>
                  </c:pt>
                  <c:pt idx="143">
                    <c:v>0.357</c:v>
                  </c:pt>
                  <c:pt idx="144">
                    <c:v>0.360</c:v>
                  </c:pt>
                  <c:pt idx="145">
                    <c:v>0.362</c:v>
                  </c:pt>
                  <c:pt idx="146">
                    <c:v>0.365</c:v>
                  </c:pt>
                  <c:pt idx="147">
                    <c:v>0.367</c:v>
                  </c:pt>
                  <c:pt idx="148">
                    <c:v>0.370</c:v>
                  </c:pt>
                  <c:pt idx="149">
                    <c:v>0.372</c:v>
                  </c:pt>
                  <c:pt idx="150">
                    <c:v>0.375</c:v>
                  </c:pt>
                  <c:pt idx="151">
                    <c:v>0.378</c:v>
                  </c:pt>
                  <c:pt idx="152">
                    <c:v>0.380</c:v>
                  </c:pt>
                  <c:pt idx="153">
                    <c:v>0.383</c:v>
                  </c:pt>
                  <c:pt idx="154">
                    <c:v>0.385</c:v>
                  </c:pt>
                  <c:pt idx="155">
                    <c:v>0.388</c:v>
                  </c:pt>
                  <c:pt idx="156">
                    <c:v>0.390</c:v>
                  </c:pt>
                  <c:pt idx="157">
                    <c:v>0.393</c:v>
                  </c:pt>
                  <c:pt idx="158">
                    <c:v>0.395</c:v>
                  </c:pt>
                  <c:pt idx="159">
                    <c:v>0.398</c:v>
                  </c:pt>
                  <c:pt idx="160">
                    <c:v>0.400</c:v>
                  </c:pt>
                  <c:pt idx="161">
                    <c:v>0.403</c:v>
                  </c:pt>
                  <c:pt idx="162">
                    <c:v>0.405</c:v>
                  </c:pt>
                  <c:pt idx="163">
                    <c:v>0.407</c:v>
                  </c:pt>
                  <c:pt idx="164">
                    <c:v>0.410</c:v>
                  </c:pt>
                  <c:pt idx="165">
                    <c:v>0.412</c:v>
                  </c:pt>
                  <c:pt idx="166">
                    <c:v>0.415</c:v>
                  </c:pt>
                  <c:pt idx="167">
                    <c:v>0.417</c:v>
                  </c:pt>
                  <c:pt idx="168">
                    <c:v>0.420</c:v>
                  </c:pt>
                  <c:pt idx="169">
                    <c:v>0.422</c:v>
                  </c:pt>
                  <c:pt idx="170">
                    <c:v>0.425</c:v>
                  </c:pt>
                  <c:pt idx="171">
                    <c:v>0.427</c:v>
                  </c:pt>
                  <c:pt idx="172">
                    <c:v>0.430</c:v>
                  </c:pt>
                  <c:pt idx="173">
                    <c:v>0.432</c:v>
                  </c:pt>
                  <c:pt idx="174">
                    <c:v>0.435</c:v>
                  </c:pt>
                  <c:pt idx="175">
                    <c:v>0.438</c:v>
                  </c:pt>
                  <c:pt idx="176">
                    <c:v>0.440</c:v>
                  </c:pt>
                  <c:pt idx="177">
                    <c:v>0.443</c:v>
                  </c:pt>
                  <c:pt idx="178">
                    <c:v>0.445</c:v>
                  </c:pt>
                  <c:pt idx="179">
                    <c:v>0.448</c:v>
                  </c:pt>
                  <c:pt idx="180">
                    <c:v>0.450</c:v>
                  </c:pt>
                  <c:pt idx="181">
                    <c:v>0.453</c:v>
                  </c:pt>
                  <c:pt idx="182">
                    <c:v>0.455</c:v>
                  </c:pt>
                  <c:pt idx="183">
                    <c:v>0.458</c:v>
                  </c:pt>
                  <c:pt idx="184">
                    <c:v>0.460</c:v>
                  </c:pt>
                  <c:pt idx="185">
                    <c:v>0.463</c:v>
                  </c:pt>
                  <c:pt idx="186">
                    <c:v>0.465</c:v>
                  </c:pt>
                  <c:pt idx="187">
                    <c:v>0.468</c:v>
                  </c:pt>
                  <c:pt idx="188">
                    <c:v>0.470</c:v>
                  </c:pt>
                  <c:pt idx="189">
                    <c:v>0.472</c:v>
                  </c:pt>
                  <c:pt idx="190">
                    <c:v>0.475</c:v>
                  </c:pt>
                  <c:pt idx="191">
                    <c:v>0.477</c:v>
                  </c:pt>
                  <c:pt idx="192">
                    <c:v>0.480</c:v>
                  </c:pt>
                  <c:pt idx="193">
                    <c:v>0.482</c:v>
                  </c:pt>
                  <c:pt idx="194">
                    <c:v>0.485</c:v>
                  </c:pt>
                  <c:pt idx="195">
                    <c:v>0.487</c:v>
                  </c:pt>
                  <c:pt idx="196">
                    <c:v>0.490</c:v>
                  </c:pt>
                  <c:pt idx="197">
                    <c:v>0.492</c:v>
                  </c:pt>
                  <c:pt idx="198">
                    <c:v>0.495</c:v>
                  </c:pt>
                  <c:pt idx="199">
                    <c:v>0.497</c:v>
                  </c:pt>
                  <c:pt idx="200">
                    <c:v>0.500</c:v>
                  </c:pt>
                  <c:pt idx="201">
                    <c:v>0.502</c:v>
                  </c:pt>
                  <c:pt idx="202">
                    <c:v>0.505</c:v>
                  </c:pt>
                  <c:pt idx="203">
                    <c:v>0.507</c:v>
                  </c:pt>
                  <c:pt idx="204">
                    <c:v>0.510</c:v>
                  </c:pt>
                  <c:pt idx="205">
                    <c:v>0.512</c:v>
                  </c:pt>
                  <c:pt idx="206">
                    <c:v>0.515</c:v>
                  </c:pt>
                  <c:pt idx="207">
                    <c:v>0.517</c:v>
                  </c:pt>
                  <c:pt idx="208">
                    <c:v>0.520</c:v>
                  </c:pt>
                  <c:pt idx="209">
                    <c:v>0.522</c:v>
                  </c:pt>
                  <c:pt idx="210">
                    <c:v>0.525</c:v>
                  </c:pt>
                  <c:pt idx="211">
                    <c:v>0.527</c:v>
                  </c:pt>
                  <c:pt idx="212">
                    <c:v>0.530</c:v>
                  </c:pt>
                  <c:pt idx="213">
                    <c:v>0.532</c:v>
                  </c:pt>
                  <c:pt idx="214">
                    <c:v>0.535</c:v>
                  </c:pt>
                  <c:pt idx="215">
                    <c:v>0.537</c:v>
                  </c:pt>
                  <c:pt idx="216">
                    <c:v>0.540</c:v>
                  </c:pt>
                  <c:pt idx="217">
                    <c:v>0.542</c:v>
                  </c:pt>
                  <c:pt idx="218">
                    <c:v>0.545</c:v>
                  </c:pt>
                  <c:pt idx="219">
                    <c:v>0.547</c:v>
                  </c:pt>
                  <c:pt idx="220">
                    <c:v>0.550</c:v>
                  </c:pt>
                  <c:pt idx="221">
                    <c:v>0.552</c:v>
                  </c:pt>
                  <c:pt idx="222">
                    <c:v>0.555</c:v>
                  </c:pt>
                  <c:pt idx="223">
                    <c:v>0.557</c:v>
                  </c:pt>
                  <c:pt idx="224">
                    <c:v>0.560</c:v>
                  </c:pt>
                  <c:pt idx="225">
                    <c:v>0.563</c:v>
                  </c:pt>
                  <c:pt idx="226">
                    <c:v>0.565</c:v>
                  </c:pt>
                  <c:pt idx="227">
                    <c:v>0.568</c:v>
                  </c:pt>
                  <c:pt idx="228">
                    <c:v>0.570</c:v>
                  </c:pt>
                  <c:pt idx="229">
                    <c:v>0.573</c:v>
                  </c:pt>
                  <c:pt idx="230">
                    <c:v>0.575</c:v>
                  </c:pt>
                  <c:pt idx="231">
                    <c:v>0.578</c:v>
                  </c:pt>
                  <c:pt idx="232">
                    <c:v>0.580</c:v>
                  </c:pt>
                  <c:pt idx="233">
                    <c:v>0.583</c:v>
                  </c:pt>
                  <c:pt idx="234">
                    <c:v>0.585</c:v>
                  </c:pt>
                  <c:pt idx="235">
                    <c:v>0.588</c:v>
                  </c:pt>
                  <c:pt idx="236">
                    <c:v>0.590</c:v>
                  </c:pt>
                  <c:pt idx="237">
                    <c:v>0.593</c:v>
                  </c:pt>
                  <c:pt idx="238">
                    <c:v>0.595</c:v>
                  </c:pt>
                  <c:pt idx="239">
                    <c:v>0.598</c:v>
                  </c:pt>
                  <c:pt idx="240">
                    <c:v>0.600</c:v>
                  </c:pt>
                  <c:pt idx="241">
                    <c:v>0.603</c:v>
                  </c:pt>
                  <c:pt idx="242">
                    <c:v>0.605</c:v>
                  </c:pt>
                  <c:pt idx="243">
                    <c:v>0.608</c:v>
                  </c:pt>
                  <c:pt idx="244">
                    <c:v>0.610</c:v>
                  </c:pt>
                  <c:pt idx="245">
                    <c:v>0.613</c:v>
                  </c:pt>
                  <c:pt idx="246">
                    <c:v>0.615</c:v>
                  </c:pt>
                  <c:pt idx="247">
                    <c:v>0.618</c:v>
                  </c:pt>
                  <c:pt idx="248">
                    <c:v>0.620</c:v>
                  </c:pt>
                  <c:pt idx="249">
                    <c:v>0.623</c:v>
                  </c:pt>
                  <c:pt idx="250">
                    <c:v>0.625</c:v>
                  </c:pt>
                  <c:pt idx="251">
                    <c:v>0.627</c:v>
                  </c:pt>
                  <c:pt idx="252">
                    <c:v>0.630</c:v>
                  </c:pt>
                  <c:pt idx="253">
                    <c:v>0.632</c:v>
                  </c:pt>
                  <c:pt idx="254">
                    <c:v>0.635</c:v>
                  </c:pt>
                  <c:pt idx="255">
                    <c:v>0.637</c:v>
                  </c:pt>
                  <c:pt idx="256">
                    <c:v>0.640</c:v>
                  </c:pt>
                  <c:pt idx="257">
                    <c:v>0.642</c:v>
                  </c:pt>
                  <c:pt idx="258">
                    <c:v>0.645</c:v>
                  </c:pt>
                  <c:pt idx="259">
                    <c:v>0.647</c:v>
                  </c:pt>
                  <c:pt idx="260">
                    <c:v>0.650</c:v>
                  </c:pt>
                  <c:pt idx="261">
                    <c:v>0.652</c:v>
                  </c:pt>
                  <c:pt idx="262">
                    <c:v>0.655</c:v>
                  </c:pt>
                  <c:pt idx="263">
                    <c:v>0.657</c:v>
                  </c:pt>
                  <c:pt idx="264">
                    <c:v>0.660</c:v>
                  </c:pt>
                  <c:pt idx="265">
                    <c:v>0.662</c:v>
                  </c:pt>
                  <c:pt idx="266">
                    <c:v>0.665</c:v>
                  </c:pt>
                  <c:pt idx="267">
                    <c:v>0.667</c:v>
                  </c:pt>
                  <c:pt idx="268">
                    <c:v>0.670</c:v>
                  </c:pt>
                  <c:pt idx="269">
                    <c:v>0.672</c:v>
                  </c:pt>
                  <c:pt idx="270">
                    <c:v>0.675</c:v>
                  </c:pt>
                  <c:pt idx="271">
                    <c:v>0.677</c:v>
                  </c:pt>
                  <c:pt idx="272">
                    <c:v>0.680</c:v>
                  </c:pt>
                  <c:pt idx="273">
                    <c:v>0.682</c:v>
                  </c:pt>
                  <c:pt idx="274">
                    <c:v>0.685</c:v>
                  </c:pt>
                  <c:pt idx="275">
                    <c:v>0.688</c:v>
                  </c:pt>
                  <c:pt idx="276">
                    <c:v>0.690</c:v>
                  </c:pt>
                  <c:pt idx="277">
                    <c:v>0.693</c:v>
                  </c:pt>
                  <c:pt idx="278">
                    <c:v>0.695</c:v>
                  </c:pt>
                  <c:pt idx="279">
                    <c:v>0.698</c:v>
                  </c:pt>
                  <c:pt idx="280">
                    <c:v>0.700</c:v>
                  </c:pt>
                  <c:pt idx="281">
                    <c:v>0.703</c:v>
                  </c:pt>
                  <c:pt idx="282">
                    <c:v>0.705</c:v>
                  </c:pt>
                  <c:pt idx="283">
                    <c:v>0.708</c:v>
                  </c:pt>
                  <c:pt idx="284">
                    <c:v>0.710</c:v>
                  </c:pt>
                  <c:pt idx="285">
                    <c:v>0.713</c:v>
                  </c:pt>
                  <c:pt idx="286">
                    <c:v>0.715</c:v>
                  </c:pt>
                  <c:pt idx="287">
                    <c:v>0.718</c:v>
                  </c:pt>
                  <c:pt idx="288">
                    <c:v>0.720</c:v>
                  </c:pt>
                  <c:pt idx="289">
                    <c:v>0.723</c:v>
                  </c:pt>
                  <c:pt idx="290">
                    <c:v>0.725</c:v>
                  </c:pt>
                  <c:pt idx="291">
                    <c:v>0.728</c:v>
                  </c:pt>
                  <c:pt idx="292">
                    <c:v>0.730</c:v>
                  </c:pt>
                  <c:pt idx="293">
                    <c:v>0.733</c:v>
                  </c:pt>
                  <c:pt idx="294">
                    <c:v>0.735</c:v>
                  </c:pt>
                  <c:pt idx="295">
                    <c:v>0.738</c:v>
                  </c:pt>
                  <c:pt idx="296">
                    <c:v>0.740</c:v>
                  </c:pt>
                  <c:pt idx="297">
                    <c:v>0.743</c:v>
                  </c:pt>
                  <c:pt idx="298">
                    <c:v>0.745</c:v>
                  </c:pt>
                  <c:pt idx="299">
                    <c:v>0.748</c:v>
                  </c:pt>
                  <c:pt idx="300">
                    <c:v>0.750</c:v>
                  </c:pt>
                  <c:pt idx="301">
                    <c:v>0.752</c:v>
                  </c:pt>
                  <c:pt idx="302">
                    <c:v>0.755</c:v>
                  </c:pt>
                  <c:pt idx="303">
                    <c:v>0.757</c:v>
                  </c:pt>
                  <c:pt idx="304">
                    <c:v>0.760</c:v>
                  </c:pt>
                  <c:pt idx="305">
                    <c:v>0.762</c:v>
                  </c:pt>
                  <c:pt idx="306">
                    <c:v>0.765</c:v>
                  </c:pt>
                  <c:pt idx="307">
                    <c:v>0.767</c:v>
                  </c:pt>
                  <c:pt idx="308">
                    <c:v>0.770</c:v>
                  </c:pt>
                  <c:pt idx="309">
                    <c:v>0.772</c:v>
                  </c:pt>
                  <c:pt idx="310">
                    <c:v>0.775</c:v>
                  </c:pt>
                  <c:pt idx="311">
                    <c:v>0.777</c:v>
                  </c:pt>
                  <c:pt idx="312">
                    <c:v>0.780</c:v>
                  </c:pt>
                  <c:pt idx="313">
                    <c:v>0.782</c:v>
                  </c:pt>
                  <c:pt idx="314">
                    <c:v>0.785</c:v>
                  </c:pt>
                  <c:pt idx="315">
                    <c:v>0.787</c:v>
                  </c:pt>
                  <c:pt idx="316">
                    <c:v>0.790</c:v>
                  </c:pt>
                  <c:pt idx="317">
                    <c:v>0.792</c:v>
                  </c:pt>
                  <c:pt idx="318">
                    <c:v>0.795</c:v>
                  </c:pt>
                  <c:pt idx="319">
                    <c:v>0.797</c:v>
                  </c:pt>
                  <c:pt idx="320">
                    <c:v>0.800</c:v>
                  </c:pt>
                  <c:pt idx="321">
                    <c:v>0.802</c:v>
                  </c:pt>
                  <c:pt idx="322">
                    <c:v>0.805</c:v>
                  </c:pt>
                  <c:pt idx="323">
                    <c:v>0.807</c:v>
                  </c:pt>
                  <c:pt idx="324">
                    <c:v>0.810</c:v>
                  </c:pt>
                  <c:pt idx="325">
                    <c:v>0.813</c:v>
                  </c:pt>
                  <c:pt idx="326">
                    <c:v>0.815</c:v>
                  </c:pt>
                  <c:pt idx="327">
                    <c:v>0.818</c:v>
                  </c:pt>
                  <c:pt idx="328">
                    <c:v>0.820</c:v>
                  </c:pt>
                  <c:pt idx="329">
                    <c:v>0.823</c:v>
                  </c:pt>
                  <c:pt idx="330">
                    <c:v>0.825</c:v>
                  </c:pt>
                  <c:pt idx="331">
                    <c:v>0.828</c:v>
                  </c:pt>
                  <c:pt idx="332">
                    <c:v>0.830</c:v>
                  </c:pt>
                  <c:pt idx="333">
                    <c:v>0.833</c:v>
                  </c:pt>
                  <c:pt idx="334">
                    <c:v>0.835</c:v>
                  </c:pt>
                  <c:pt idx="335">
                    <c:v>0.838</c:v>
                  </c:pt>
                  <c:pt idx="336">
                    <c:v>0.840</c:v>
                  </c:pt>
                  <c:pt idx="337">
                    <c:v>0.843</c:v>
                  </c:pt>
                  <c:pt idx="338">
                    <c:v>0.845</c:v>
                  </c:pt>
                  <c:pt idx="339">
                    <c:v>0.848</c:v>
                  </c:pt>
                  <c:pt idx="340">
                    <c:v>0.850</c:v>
                  </c:pt>
                  <c:pt idx="341">
                    <c:v>0.853</c:v>
                  </c:pt>
                  <c:pt idx="342">
                    <c:v>0.855</c:v>
                  </c:pt>
                  <c:pt idx="343">
                    <c:v>0.858</c:v>
                  </c:pt>
                  <c:pt idx="344">
                    <c:v>0.860</c:v>
                  </c:pt>
                  <c:pt idx="345">
                    <c:v>0.863</c:v>
                  </c:pt>
                  <c:pt idx="346">
                    <c:v>0.865</c:v>
                  </c:pt>
                  <c:pt idx="347">
                    <c:v>0.868</c:v>
                  </c:pt>
                  <c:pt idx="348">
                    <c:v>0.870</c:v>
                  </c:pt>
                  <c:pt idx="349">
                    <c:v>0.873</c:v>
                  </c:pt>
                  <c:pt idx="350">
                    <c:v>0.875</c:v>
                  </c:pt>
                  <c:pt idx="351">
                    <c:v>0.877</c:v>
                  </c:pt>
                  <c:pt idx="352">
                    <c:v>0.880</c:v>
                  </c:pt>
                  <c:pt idx="353">
                    <c:v>0.882</c:v>
                  </c:pt>
                  <c:pt idx="354">
                    <c:v>0.885</c:v>
                  </c:pt>
                  <c:pt idx="355">
                    <c:v>0.887</c:v>
                  </c:pt>
                  <c:pt idx="356">
                    <c:v>0.890</c:v>
                  </c:pt>
                  <c:pt idx="357">
                    <c:v>0.892</c:v>
                  </c:pt>
                  <c:pt idx="358">
                    <c:v>0.895</c:v>
                  </c:pt>
                  <c:pt idx="359">
                    <c:v>0.897</c:v>
                  </c:pt>
                  <c:pt idx="360">
                    <c:v>0.900</c:v>
                  </c:pt>
                  <c:pt idx="361">
                    <c:v>0.902</c:v>
                  </c:pt>
                  <c:pt idx="362">
                    <c:v>0.905</c:v>
                  </c:pt>
                  <c:pt idx="363">
                    <c:v>0.907</c:v>
                  </c:pt>
                  <c:pt idx="364">
                    <c:v>0.910</c:v>
                  </c:pt>
                  <c:pt idx="365">
                    <c:v>0.912</c:v>
                  </c:pt>
                  <c:pt idx="366">
                    <c:v>0.915</c:v>
                  </c:pt>
                  <c:pt idx="367">
                    <c:v>0.917</c:v>
                  </c:pt>
                  <c:pt idx="368">
                    <c:v>0.920</c:v>
                  </c:pt>
                  <c:pt idx="369">
                    <c:v>0.922</c:v>
                  </c:pt>
                  <c:pt idx="370">
                    <c:v>0.925</c:v>
                  </c:pt>
                  <c:pt idx="371">
                    <c:v>0.927</c:v>
                  </c:pt>
                  <c:pt idx="372">
                    <c:v>0.930</c:v>
                  </c:pt>
                  <c:pt idx="373">
                    <c:v>0.932</c:v>
                  </c:pt>
                  <c:pt idx="374">
                    <c:v>0.935</c:v>
                  </c:pt>
                  <c:pt idx="375">
                    <c:v>0.938</c:v>
                  </c:pt>
                  <c:pt idx="376">
                    <c:v>0.940</c:v>
                  </c:pt>
                  <c:pt idx="377">
                    <c:v>0.943</c:v>
                  </c:pt>
                  <c:pt idx="378">
                    <c:v>0.945</c:v>
                  </c:pt>
                  <c:pt idx="379">
                    <c:v>0.948</c:v>
                  </c:pt>
                  <c:pt idx="380">
                    <c:v>0.950</c:v>
                  </c:pt>
                  <c:pt idx="381">
                    <c:v>0.953</c:v>
                  </c:pt>
                  <c:pt idx="382">
                    <c:v>0.955</c:v>
                  </c:pt>
                  <c:pt idx="383">
                    <c:v>0.958</c:v>
                  </c:pt>
                  <c:pt idx="384">
                    <c:v>0.960</c:v>
                  </c:pt>
                  <c:pt idx="385">
                    <c:v>0.963</c:v>
                  </c:pt>
                  <c:pt idx="386">
                    <c:v>0.965</c:v>
                  </c:pt>
                  <c:pt idx="387">
                    <c:v>0.968</c:v>
                  </c:pt>
                  <c:pt idx="388">
                    <c:v>0.970</c:v>
                  </c:pt>
                  <c:pt idx="389">
                    <c:v>0.973</c:v>
                  </c:pt>
                  <c:pt idx="390">
                    <c:v>0.975</c:v>
                  </c:pt>
                  <c:pt idx="391">
                    <c:v>0.978</c:v>
                  </c:pt>
                  <c:pt idx="392">
                    <c:v>0.980</c:v>
                  </c:pt>
                  <c:pt idx="393">
                    <c:v>0.983</c:v>
                  </c:pt>
                  <c:pt idx="394">
                    <c:v>0.985</c:v>
                  </c:pt>
                  <c:pt idx="395">
                    <c:v>0.988</c:v>
                  </c:pt>
                  <c:pt idx="396">
                    <c:v>0.990</c:v>
                  </c:pt>
                  <c:pt idx="397">
                    <c:v>0.993</c:v>
                  </c:pt>
                  <c:pt idx="398">
                    <c:v>0.995</c:v>
                  </c:pt>
                  <c:pt idx="399">
                    <c:v>0.998</c:v>
                  </c:pt>
                  <c:pt idx="400">
                    <c:v>1.000</c:v>
                  </c:pt>
                </c:lvl>
              </c:multiLvlStrCache>
            </c:multiLvlStrRef>
          </c:cat>
          <c:val>
            <c:numRef>
              <c:f>Sheet1!$B$2:$B$402</c:f>
              <c:numCache>
                <c:formatCode>General</c:formatCode>
                <c:ptCount val="401"/>
                <c:pt idx="0">
                  <c:v>80</c:v>
                </c:pt>
                <c:pt idx="1">
                  <c:v>75.876</c:v>
                </c:pt>
                <c:pt idx="2">
                  <c:v>64.026</c:v>
                </c:pt>
                <c:pt idx="3">
                  <c:v>45.802</c:v>
                </c:pt>
                <c:pt idx="4">
                  <c:v>23.19</c:v>
                </c:pt>
                <c:pt idx="5">
                  <c:v>-1.408</c:v>
                </c:pt>
                <c:pt idx="6">
                  <c:v>-25.431</c:v>
                </c:pt>
                <c:pt idx="7">
                  <c:v>-46.418</c:v>
                </c:pt>
                <c:pt idx="8">
                  <c:v>-62.265</c:v>
                </c:pt>
                <c:pt idx="9">
                  <c:v>-71.435</c:v>
                </c:pt>
                <c:pt idx="10">
                  <c:v>-73.101</c:v>
                </c:pt>
                <c:pt idx="11">
                  <c:v>-67.224</c:v>
                </c:pt>
                <c:pt idx="12">
                  <c:v>-54.54</c:v>
                </c:pt>
                <c:pt idx="13">
                  <c:v>-36.473</c:v>
                </c:pt>
                <c:pt idx="14">
                  <c:v>-14.974</c:v>
                </c:pt>
                <c:pt idx="15">
                  <c:v>7.688</c:v>
                </c:pt>
                <c:pt idx="16">
                  <c:v>29.161</c:v>
                </c:pt>
                <c:pt idx="17">
                  <c:v>47.26</c:v>
                </c:pt>
                <c:pt idx="18">
                  <c:v>60.184</c:v>
                </c:pt>
                <c:pt idx="19">
                  <c:v>66.695</c:v>
                </c:pt>
                <c:pt idx="20">
                  <c:v>66.237</c:v>
                </c:pt>
                <c:pt idx="21">
                  <c:v>58.978</c:v>
                </c:pt>
                <c:pt idx="22">
                  <c:v>45.784</c:v>
                </c:pt>
                <c:pt idx="23">
                  <c:v>28.116</c:v>
                </c:pt>
                <c:pt idx="24">
                  <c:v>7.867</c:v>
                </c:pt>
                <c:pt idx="25">
                  <c:v>-12.834</c:v>
                </c:pt>
                <c:pt idx="26">
                  <c:v>-31.854</c:v>
                </c:pt>
                <c:pt idx="27">
                  <c:v>-47.265</c:v>
                </c:pt>
                <c:pt idx="28">
                  <c:v>-57.548</c:v>
                </c:pt>
                <c:pt idx="29">
                  <c:v>-61.735</c:v>
                </c:pt>
                <c:pt idx="30">
                  <c:v>-59.503</c:v>
                </c:pt>
                <c:pt idx="31">
                  <c:v>-51.194</c:v>
                </c:pt>
                <c:pt idx="32">
                  <c:v>-37.769</c:v>
                </c:pt>
                <c:pt idx="33">
                  <c:v>-20.697</c:v>
                </c:pt>
                <c:pt idx="34">
                  <c:v>-1.797</c:v>
                </c:pt>
                <c:pt idx="35">
                  <c:v>16.956</c:v>
                </c:pt>
                <c:pt idx="36">
                  <c:v>33.637</c:v>
                </c:pt>
                <c:pt idx="37">
                  <c:v>46.568</c:v>
                </c:pt>
                <c:pt idx="38">
                  <c:v>54.485</c:v>
                </c:pt>
                <c:pt idx="39">
                  <c:v>56.664</c:v>
                </c:pt>
                <c:pt idx="40">
                  <c:v>52.979</c:v>
                </c:pt>
                <c:pt idx="41">
                  <c:v>43.914</c:v>
                </c:pt>
                <c:pt idx="42">
                  <c:v>30.494</c:v>
                </c:pt>
                <c:pt idx="43">
                  <c:v>14.175</c:v>
                </c:pt>
                <c:pt idx="44">
                  <c:v>-3.315</c:v>
                </c:pt>
                <c:pt idx="45">
                  <c:v>-20.157</c:v>
                </c:pt>
                <c:pt idx="46">
                  <c:v>-34.632</c:v>
                </c:pt>
                <c:pt idx="47">
                  <c:v>-45.293</c:v>
                </c:pt>
                <c:pt idx="48">
                  <c:v>-51.111</c:v>
                </c:pt>
                <c:pt idx="49">
                  <c:v>-51.574</c:v>
                </c:pt>
                <c:pt idx="50">
                  <c:v>-46.728</c:v>
                </c:pt>
                <c:pt idx="51">
                  <c:v>-37.163</c:v>
                </c:pt>
                <c:pt idx="52">
                  <c:v>-23.947</c:v>
                </c:pt>
                <c:pt idx="53">
                  <c:v>-8.501</c:v>
                </c:pt>
                <c:pt idx="54">
                  <c:v>7.548</c:v>
                </c:pt>
                <c:pt idx="55">
                  <c:v>22.54</c:v>
                </c:pt>
                <c:pt idx="56">
                  <c:v>34.951</c:v>
                </c:pt>
                <c:pt idx="57">
                  <c:v>43.553</c:v>
                </c:pt>
                <c:pt idx="58">
                  <c:v>47.526</c:v>
                </c:pt>
                <c:pt idx="59">
                  <c:v>46.545</c:v>
                </c:pt>
                <c:pt idx="60">
                  <c:v>40.797</c:v>
                </c:pt>
                <c:pt idx="61">
                  <c:v>30.956</c:v>
                </c:pt>
                <c:pt idx="62">
                  <c:v>18.106</c:v>
                </c:pt>
                <c:pt idx="63">
                  <c:v>3.621</c:v>
                </c:pt>
                <c:pt idx="64">
                  <c:v>-10.983</c:v>
                </c:pt>
                <c:pt idx="65">
                  <c:v>-24.202</c:v>
                </c:pt>
                <c:pt idx="66">
                  <c:v>-34.701</c:v>
                </c:pt>
                <c:pt idx="67">
                  <c:v>-41.449</c:v>
                </c:pt>
                <c:pt idx="68">
                  <c:v>-43.818</c:v>
                </c:pt>
                <c:pt idx="69">
                  <c:v>-41.642</c:v>
                </c:pt>
                <c:pt idx="70">
                  <c:v>-35.223</c:v>
                </c:pt>
                <c:pt idx="71">
                  <c:v>-25.297</c:v>
                </c:pt>
                <c:pt idx="72">
                  <c:v>-12.945</c:v>
                </c:pt>
                <c:pt idx="73">
                  <c:v>0.521</c:v>
                </c:pt>
                <c:pt idx="74">
                  <c:v>13.698</c:v>
                </c:pt>
                <c:pt idx="75">
                  <c:v>25.235</c:v>
                </c:pt>
                <c:pt idx="76">
                  <c:v>33.976</c:v>
                </c:pt>
                <c:pt idx="77">
                  <c:v>39.071</c:v>
                </c:pt>
                <c:pt idx="78">
                  <c:v>40.061</c:v>
                </c:pt>
                <c:pt idx="79">
                  <c:v>36.916</c:v>
                </c:pt>
                <c:pt idx="80">
                  <c:v>30.031</c:v>
                </c:pt>
                <c:pt idx="81">
                  <c:v>20.181</c:v>
                </c:pt>
                <c:pt idx="82">
                  <c:v>8.428</c:v>
                </c:pt>
                <c:pt idx="83">
                  <c:v>-3.984</c:v>
                </c:pt>
                <c:pt idx="84">
                  <c:v>-15.769</c:v>
                </c:pt>
                <c:pt idx="85">
                  <c:v>-25.726</c:v>
                </c:pt>
                <c:pt idx="86">
                  <c:v>-32.865</c:v>
                </c:pt>
                <c:pt idx="87">
                  <c:v>-36.5</c:v>
                </c:pt>
                <c:pt idx="88">
                  <c:v>-36.319</c:v>
                </c:pt>
                <c:pt idx="89">
                  <c:v>-32.409</c:v>
                </c:pt>
                <c:pt idx="90">
                  <c:v>-25.236</c:v>
                </c:pt>
                <c:pt idx="91">
                  <c:v>-15.595</c:v>
                </c:pt>
                <c:pt idx="92">
                  <c:v>-4.52</c:v>
                </c:pt>
                <c:pt idx="93">
                  <c:v>6.826</c:v>
                </c:pt>
                <c:pt idx="94">
                  <c:v>17.27</c:v>
                </c:pt>
                <c:pt idx="95">
                  <c:v>25.756</c:v>
                </c:pt>
                <c:pt idx="96">
                  <c:v>31.446</c:v>
                </c:pt>
                <c:pt idx="97">
                  <c:v>33.804</c:v>
                </c:pt>
                <c:pt idx="98">
                  <c:v>32.646</c:v>
                </c:pt>
                <c:pt idx="99">
                  <c:v>28.152</c:v>
                </c:pt>
                <c:pt idx="100">
                  <c:v>20.844</c:v>
                </c:pt>
                <c:pt idx="101">
                  <c:v>11.521</c:v>
                </c:pt>
                <c:pt idx="102">
                  <c:v>1.178</c:v>
                </c:pt>
                <c:pt idx="103">
                  <c:v>-9.105</c:v>
                </c:pt>
                <c:pt idx="104">
                  <c:v>-18.272</c:v>
                </c:pt>
                <c:pt idx="105">
                  <c:v>-25.399</c:v>
                </c:pt>
                <c:pt idx="106">
                  <c:v>-29.791</c:v>
                </c:pt>
                <c:pt idx="107">
                  <c:v>-31.044</c:v>
                </c:pt>
                <c:pt idx="108">
                  <c:v>-29.084</c:v>
                </c:pt>
                <c:pt idx="109">
                  <c:v>-24.169</c:v>
                </c:pt>
                <c:pt idx="110">
                  <c:v>-16.855</c:v>
                </c:pt>
                <c:pt idx="111">
                  <c:v>-7.938</c:v>
                </c:pt>
                <c:pt idx="112">
                  <c:v>1.639</c:v>
                </c:pt>
                <c:pt idx="113">
                  <c:v>10.879</c:v>
                </c:pt>
                <c:pt idx="114">
                  <c:v>18.84</c:v>
                </c:pt>
                <c:pt idx="115">
                  <c:v>24.723</c:v>
                </c:pt>
                <c:pt idx="116">
                  <c:v>27.963</c:v>
                </c:pt>
                <c:pt idx="117">
                  <c:v>28.271</c:v>
                </c:pt>
                <c:pt idx="118">
                  <c:v>25.668</c:v>
                </c:pt>
                <c:pt idx="119">
                  <c:v>20.473</c:v>
                </c:pt>
                <c:pt idx="120">
                  <c:v>13.264</c:v>
                </c:pt>
                <c:pt idx="121">
                  <c:v>4.818</c:v>
                </c:pt>
                <c:pt idx="122">
                  <c:v>-3.975</c:v>
                </c:pt>
                <c:pt idx="123">
                  <c:v>-12.205</c:v>
                </c:pt>
                <c:pt idx="124">
                  <c:v>-19.036</c:v>
                </c:pt>
                <c:pt idx="125">
                  <c:v>-23.79</c:v>
                </c:pt>
                <c:pt idx="126">
                  <c:v>-26.016</c:v>
                </c:pt>
                <c:pt idx="127">
                  <c:v>-25.529</c:v>
                </c:pt>
                <c:pt idx="128">
                  <c:v>-22.426</c:v>
                </c:pt>
                <c:pt idx="129">
                  <c:v>-17.072</c:v>
                </c:pt>
                <c:pt idx="130">
                  <c:v>-10.058</c:v>
                </c:pt>
                <c:pt idx="131">
                  <c:v>-2.133</c:v>
                </c:pt>
                <c:pt idx="132">
                  <c:v>5.873</c:v>
                </c:pt>
                <c:pt idx="133">
                  <c:v>13.134</c:v>
                </c:pt>
                <c:pt idx="134">
                  <c:v>18.918</c:v>
                </c:pt>
                <c:pt idx="135">
                  <c:v>22.656</c:v>
                </c:pt>
                <c:pt idx="136">
                  <c:v>23.999</c:v>
                </c:pt>
                <c:pt idx="137">
                  <c:v>22.853</c:v>
                </c:pt>
                <c:pt idx="138">
                  <c:v>19.377</c:v>
                </c:pt>
                <c:pt idx="139">
                  <c:v>13.97</c:v>
                </c:pt>
                <c:pt idx="140">
                  <c:v>7.223</c:v>
                </c:pt>
                <c:pt idx="141">
                  <c:v>-0.149</c:v>
                </c:pt>
                <c:pt idx="142">
                  <c:v>-7.376</c:v>
                </c:pt>
                <c:pt idx="143">
                  <c:v>-13.718</c:v>
                </c:pt>
                <c:pt idx="144">
                  <c:v>-18.538</c:v>
                </c:pt>
                <c:pt idx="145">
                  <c:v>-21.369</c:v>
                </c:pt>
                <c:pt idx="146">
                  <c:v>-21.954</c:v>
                </c:pt>
                <c:pt idx="147">
                  <c:v>-20.271</c:v>
                </c:pt>
                <c:pt idx="148">
                  <c:v>-16.535</c:v>
                </c:pt>
                <c:pt idx="149">
                  <c:v>-11.165</c:v>
                </c:pt>
                <c:pt idx="150">
                  <c:v>-4.741</c:v>
                </c:pt>
                <c:pt idx="151">
                  <c:v>2.058</c:v>
                </c:pt>
                <c:pt idx="152">
                  <c:v>8.525</c:v>
                </c:pt>
                <c:pt idx="153">
                  <c:v>14.003</c:v>
                </c:pt>
                <c:pt idx="154">
                  <c:v>17.946</c:v>
                </c:pt>
                <c:pt idx="155">
                  <c:v>19.974</c:v>
                </c:pt>
                <c:pt idx="156">
                  <c:v>19.914</c:v>
                </c:pt>
                <c:pt idx="157">
                  <c:v>17.808</c:v>
                </c:pt>
                <c:pt idx="158">
                  <c:v>13.909</c:v>
                </c:pt>
                <c:pt idx="159">
                  <c:v>8.648</c:v>
                </c:pt>
                <c:pt idx="160">
                  <c:v>2.591</c:v>
                </c:pt>
                <c:pt idx="161">
                  <c:v>-3.627</c:v>
                </c:pt>
                <c:pt idx="162">
                  <c:v>-9.362</c:v>
                </c:pt>
                <c:pt idx="163">
                  <c:v>-14.035</c:v>
                </c:pt>
                <c:pt idx="164">
                  <c:v>-17.183</c:v>
                </c:pt>
                <c:pt idx="165">
                  <c:v>-18.509</c:v>
                </c:pt>
                <c:pt idx="166">
                  <c:v>-17.91</c:v>
                </c:pt>
                <c:pt idx="167">
                  <c:v>-15.481</c:v>
                </c:pt>
                <c:pt idx="168">
                  <c:v>-11.502</c:v>
                </c:pt>
                <c:pt idx="169">
                  <c:v>-6.412</c:v>
                </c:pt>
                <c:pt idx="170">
                  <c:v>-0.751</c:v>
                </c:pt>
                <c:pt idx="171">
                  <c:v>4.887</c:v>
                </c:pt>
                <c:pt idx="172">
                  <c:v>9.924</c:v>
                </c:pt>
                <c:pt idx="173">
                  <c:v>13.853</c:v>
                </c:pt>
                <c:pt idx="174">
                  <c:v>16.289</c:v>
                </c:pt>
                <c:pt idx="175">
                  <c:v>17.007</c:v>
                </c:pt>
                <c:pt idx="176">
                  <c:v>15.965</c:v>
                </c:pt>
                <c:pt idx="177">
                  <c:v>13.301</c:v>
                </c:pt>
                <c:pt idx="178">
                  <c:v>9.316</c:v>
                </c:pt>
                <c:pt idx="179">
                  <c:v>4.443</c:v>
                </c:pt>
                <c:pt idx="180">
                  <c:v>-0.801</c:v>
                </c:pt>
                <c:pt idx="181">
                  <c:v>-5.871</c:v>
                </c:pt>
                <c:pt idx="182">
                  <c:v>-10.248</c:v>
                </c:pt>
                <c:pt idx="183">
                  <c:v>-13.495</c:v>
                </c:pt>
                <c:pt idx="184">
                  <c:v>-15.298</c:v>
                </c:pt>
                <c:pt idx="185">
                  <c:v>-15.497</c:v>
                </c:pt>
                <c:pt idx="186">
                  <c:v>-14.099</c:v>
                </c:pt>
                <c:pt idx="187">
                  <c:v>-11.277</c:v>
                </c:pt>
                <c:pt idx="188">
                  <c:v>-7.345</c:v>
                </c:pt>
                <c:pt idx="189">
                  <c:v>-2.728</c:v>
                </c:pt>
                <c:pt idx="190">
                  <c:v>2.09</c:v>
                </c:pt>
                <c:pt idx="191">
                  <c:v>6.607</c:v>
                </c:pt>
                <c:pt idx="192">
                  <c:v>10.367</c:v>
                </c:pt>
                <c:pt idx="193">
                  <c:v>12.995</c:v>
                </c:pt>
                <c:pt idx="194">
                  <c:v>14.241</c:v>
                </c:pt>
                <c:pt idx="195">
                  <c:v>14.001</c:v>
                </c:pt>
                <c:pt idx="196">
                  <c:v>12.327</c:v>
                </c:pt>
                <c:pt idx="197">
                  <c:v>9.415</c:v>
                </c:pt>
                <c:pt idx="198">
                  <c:v>5.586</c:v>
                </c:pt>
                <c:pt idx="199">
                  <c:v>1.25</c:v>
                </c:pt>
                <c:pt idx="200">
                  <c:v>-3.138</c:v>
                </c:pt>
                <c:pt idx="201">
                  <c:v>-7.127</c:v>
                </c:pt>
                <c:pt idx="202">
                  <c:v>-10.313</c:v>
                </c:pt>
                <c:pt idx="203">
                  <c:v>-12.383</c:v>
                </c:pt>
                <c:pt idx="204">
                  <c:v>-13.144</c:v>
                </c:pt>
                <c:pt idx="205">
                  <c:v>-12.541</c:v>
                </c:pt>
                <c:pt idx="206">
                  <c:v>-10.659</c:v>
                </c:pt>
                <c:pt idx="207">
                  <c:v>-7.715</c:v>
                </c:pt>
                <c:pt idx="208">
                  <c:v>-4.029</c:v>
                </c:pt>
                <c:pt idx="209">
                  <c:v>0.006</c:v>
                </c:pt>
                <c:pt idx="210">
                  <c:v>3.97</c:v>
                </c:pt>
                <c:pt idx="211">
                  <c:v>7.456</c:v>
                </c:pt>
                <c:pt idx="212">
                  <c:v>10.115</c:v>
                </c:pt>
                <c:pt idx="213">
                  <c:v>11.687</c:v>
                </c:pt>
                <c:pt idx="214">
                  <c:v>12.03</c:v>
                </c:pt>
                <c:pt idx="215">
                  <c:v>11.131</c:v>
                </c:pt>
                <c:pt idx="216">
                  <c:v>9.104</c:v>
                </c:pt>
                <c:pt idx="217">
                  <c:v>6.176</c:v>
                </c:pt>
                <c:pt idx="218">
                  <c:v>2.665</c:v>
                </c:pt>
                <c:pt idx="219">
                  <c:v>-1.059</c:v>
                </c:pt>
                <c:pt idx="220">
                  <c:v>-4.608</c:v>
                </c:pt>
                <c:pt idx="221">
                  <c:v>-7.622</c:v>
                </c:pt>
                <c:pt idx="222">
                  <c:v>-9.799</c:v>
                </c:pt>
                <c:pt idx="223">
                  <c:v>-10.93</c:v>
                </c:pt>
                <c:pt idx="224">
                  <c:v>-10.919</c:v>
                </c:pt>
                <c:pt idx="225">
                  <c:v>-9.785</c:v>
                </c:pt>
                <c:pt idx="226">
                  <c:v>-7.665</c:v>
                </c:pt>
                <c:pt idx="227">
                  <c:v>-4.795</c:v>
                </c:pt>
                <c:pt idx="228">
                  <c:v>-1.482</c:v>
                </c:pt>
                <c:pt idx="229">
                  <c:v>1.925</c:v>
                </c:pt>
                <c:pt idx="230">
                  <c:v>5.074</c:v>
                </c:pt>
                <c:pt idx="231">
                  <c:v>7.647</c:v>
                </c:pt>
                <c:pt idx="232">
                  <c:v>9.388</c:v>
                </c:pt>
                <c:pt idx="233">
                  <c:v>10.134</c:v>
                </c:pt>
                <c:pt idx="234">
                  <c:v>9.825</c:v>
                </c:pt>
                <c:pt idx="235">
                  <c:v>8.512</c:v>
                </c:pt>
                <c:pt idx="236">
                  <c:v>6.347</c:v>
                </c:pt>
                <c:pt idx="237">
                  <c:v>3.567</c:v>
                </c:pt>
                <c:pt idx="238">
                  <c:v>0.47</c:v>
                </c:pt>
                <c:pt idx="239">
                  <c:v>-2.622</c:v>
                </c:pt>
                <c:pt idx="240">
                  <c:v>-5.39</c:v>
                </c:pt>
                <c:pt idx="241">
                  <c:v>-7.555</c:v>
                </c:pt>
                <c:pt idx="242">
                  <c:v>-8.905</c:v>
                </c:pt>
                <c:pt idx="243">
                  <c:v>-9.317</c:v>
                </c:pt>
                <c:pt idx="244">
                  <c:v>-8.764</c:v>
                </c:pt>
                <c:pt idx="245">
                  <c:v>-7.319</c:v>
                </c:pt>
                <c:pt idx="246">
                  <c:v>-5.148</c:v>
                </c:pt>
                <c:pt idx="247">
                  <c:v>-2.486</c:v>
                </c:pt>
                <c:pt idx="248">
                  <c:v>0.386</c:v>
                </c:pt>
                <c:pt idx="249">
                  <c:v>3.167</c:v>
                </c:pt>
                <c:pt idx="250">
                  <c:v>5.574</c:v>
                </c:pt>
                <c:pt idx="251">
                  <c:v>7.366</c:v>
                </c:pt>
                <c:pt idx="252">
                  <c:v>8.369</c:v>
                </c:pt>
                <c:pt idx="253">
                  <c:v>8.494</c:v>
                </c:pt>
                <c:pt idx="254">
                  <c:v>7.744</c:v>
                </c:pt>
                <c:pt idx="255">
                  <c:v>6.212</c:v>
                </c:pt>
                <c:pt idx="256">
                  <c:v>4.067</c:v>
                </c:pt>
                <c:pt idx="257">
                  <c:v>1.542</c:v>
                </c:pt>
                <c:pt idx="258">
                  <c:v>-1.097</c:v>
                </c:pt>
                <c:pt idx="259">
                  <c:v>-3.577</c:v>
                </c:pt>
                <c:pt idx="260">
                  <c:v>-5.645</c:v>
                </c:pt>
                <c:pt idx="261">
                  <c:v>-7.098</c:v>
                </c:pt>
                <c:pt idx="262">
                  <c:v>-7.795</c:v>
                </c:pt>
                <c:pt idx="263">
                  <c:v>-7.679</c:v>
                </c:pt>
                <c:pt idx="264">
                  <c:v>-6.775</c:v>
                </c:pt>
                <c:pt idx="265">
                  <c:v>-5.191</c:v>
                </c:pt>
                <c:pt idx="266">
                  <c:v>-3.101</c:v>
                </c:pt>
                <c:pt idx="267">
                  <c:v>-0.73</c:v>
                </c:pt>
                <c:pt idx="268">
                  <c:v>1.676</c:v>
                </c:pt>
                <c:pt idx="269">
                  <c:v>3.867</c:v>
                </c:pt>
                <c:pt idx="270">
                  <c:v>5.622</c:v>
                </c:pt>
                <c:pt idx="271">
                  <c:v>6.768</c:v>
                </c:pt>
                <c:pt idx="272">
                  <c:v>7.199</c:v>
                </c:pt>
                <c:pt idx="273">
                  <c:v>6.882</c:v>
                </c:pt>
                <c:pt idx="274">
                  <c:v>5.863</c:v>
                </c:pt>
                <c:pt idx="275">
                  <c:v>4.26</c:v>
                </c:pt>
                <c:pt idx="276">
                  <c:v>2.246</c:v>
                </c:pt>
                <c:pt idx="277">
                  <c:v>0.038</c:v>
                </c:pt>
                <c:pt idx="278">
                  <c:v>-2.136</c:v>
                </c:pt>
                <c:pt idx="279">
                  <c:v>-4.052</c:v>
                </c:pt>
                <c:pt idx="280">
                  <c:v>-5.518</c:v>
                </c:pt>
                <c:pt idx="281">
                  <c:v>-6.391</c:v>
                </c:pt>
                <c:pt idx="282">
                  <c:v>-6.592</c:v>
                </c:pt>
                <c:pt idx="283">
                  <c:v>-6.112</c:v>
                </c:pt>
                <c:pt idx="284">
                  <c:v>-5.012</c:v>
                </c:pt>
                <c:pt idx="285">
                  <c:v>-3.416</c:v>
                </c:pt>
                <c:pt idx="286">
                  <c:v>-1.497</c:v>
                </c:pt>
                <c:pt idx="287">
                  <c:v>0.543</c:v>
                </c:pt>
                <c:pt idx="288">
                  <c:v>2.49</c:v>
                </c:pt>
                <c:pt idx="289">
                  <c:v>4.148</c:v>
                </c:pt>
                <c:pt idx="290">
                  <c:v>5.35</c:v>
                </c:pt>
                <c:pt idx="291">
                  <c:v>5.981</c:v>
                </c:pt>
                <c:pt idx="292">
                  <c:v>5.986</c:v>
                </c:pt>
                <c:pt idx="293">
                  <c:v>5.376</c:v>
                </c:pt>
                <c:pt idx="294">
                  <c:v>4.224</c:v>
                </c:pt>
                <c:pt idx="295">
                  <c:v>2.658</c:v>
                </c:pt>
                <c:pt idx="296">
                  <c:v>0.846</c:v>
                </c:pt>
                <c:pt idx="297">
                  <c:v>-1.021</c:v>
                </c:pt>
                <c:pt idx="298">
                  <c:v>-2.75</c:v>
                </c:pt>
                <c:pt idx="299">
                  <c:v>-4.166</c:v>
                </c:pt>
                <c:pt idx="300">
                  <c:v>-5.13</c:v>
                </c:pt>
                <c:pt idx="301">
                  <c:v>-5.549</c:v>
                </c:pt>
                <c:pt idx="302">
                  <c:v>-5.39</c:v>
                </c:pt>
                <c:pt idx="303">
                  <c:v>-4.68</c:v>
                </c:pt>
                <c:pt idx="304">
                  <c:v>-3.502</c:v>
                </c:pt>
                <c:pt idx="305">
                  <c:v>-1.984</c:v>
                </c:pt>
                <c:pt idx="306">
                  <c:v>-0.289</c:v>
                </c:pt>
                <c:pt idx="307">
                  <c:v>1.406</c:v>
                </c:pt>
                <c:pt idx="308">
                  <c:v>2.927</c:v>
                </c:pt>
                <c:pt idx="309">
                  <c:v>4.12</c:v>
                </c:pt>
                <c:pt idx="310">
                  <c:v>4.869</c:v>
                </c:pt>
                <c:pt idx="311">
                  <c:v>5.104</c:v>
                </c:pt>
                <c:pt idx="312">
                  <c:v>4.81</c:v>
                </c:pt>
                <c:pt idx="313">
                  <c:v>4.028</c:v>
                </c:pt>
                <c:pt idx="314">
                  <c:v>2.845</c:v>
                </c:pt>
                <c:pt idx="315">
                  <c:v>1.39</c:v>
                </c:pt>
                <c:pt idx="316">
                  <c:v>-0.182</c:v>
                </c:pt>
                <c:pt idx="317">
                  <c:v>-1.708</c:v>
                </c:pt>
                <c:pt idx="318">
                  <c:v>-3.031</c:v>
                </c:pt>
                <c:pt idx="319">
                  <c:v>-4.02</c:v>
                </c:pt>
                <c:pt idx="320">
                  <c:v>-4.578</c:v>
                </c:pt>
                <c:pt idx="321">
                  <c:v>-4.656</c:v>
                </c:pt>
                <c:pt idx="322">
                  <c:v>-4.254</c:v>
                </c:pt>
                <c:pt idx="323">
                  <c:v>-3.421</c:v>
                </c:pt>
                <c:pt idx="324">
                  <c:v>-2.252</c:v>
                </c:pt>
                <c:pt idx="325">
                  <c:v>-0.871</c:v>
                </c:pt>
                <c:pt idx="326">
                  <c:v>0.574</c:v>
                </c:pt>
                <c:pt idx="327">
                  <c:v>1.936</c:v>
                </c:pt>
                <c:pt idx="328">
                  <c:v>3.074</c:v>
                </c:pt>
                <c:pt idx="329">
                  <c:v>3.877</c:v>
                </c:pt>
                <c:pt idx="330">
                  <c:v>4.267</c:v>
                </c:pt>
                <c:pt idx="331">
                  <c:v>4.211</c:v>
                </c:pt>
                <c:pt idx="332">
                  <c:v>3.724</c:v>
                </c:pt>
                <c:pt idx="333">
                  <c:v>2.862</c:v>
                </c:pt>
                <c:pt idx="334">
                  <c:v>1.722</c:v>
                </c:pt>
                <c:pt idx="335">
                  <c:v>0.424</c:v>
                </c:pt>
                <c:pt idx="336">
                  <c:v>-0.894</c:v>
                </c:pt>
                <c:pt idx="337">
                  <c:v>-2.098</c:v>
                </c:pt>
                <c:pt idx="338">
                  <c:v>-3.064</c:v>
                </c:pt>
                <c:pt idx="339">
                  <c:v>-3.699</c:v>
                </c:pt>
                <c:pt idx="340">
                  <c:v>-3.942</c:v>
                </c:pt>
                <c:pt idx="341">
                  <c:v>-3.776</c:v>
                </c:pt>
                <c:pt idx="342">
                  <c:v>-3.225</c:v>
                </c:pt>
                <c:pt idx="343">
                  <c:v>-2.352</c:v>
                </c:pt>
                <c:pt idx="344">
                  <c:v>-1.252</c:v>
                </c:pt>
                <c:pt idx="345">
                  <c:v>-0.043</c:v>
                </c:pt>
                <c:pt idx="346">
                  <c:v>1.149</c:v>
                </c:pt>
                <c:pt idx="347">
                  <c:v>2.202</c:v>
                </c:pt>
                <c:pt idx="348">
                  <c:v>3.011</c:v>
                </c:pt>
                <c:pt idx="349">
                  <c:v>3.495</c:v>
                </c:pt>
                <c:pt idx="350">
                  <c:v>3.612</c:v>
                </c:pt>
                <c:pt idx="351">
                  <c:v>3.356</c:v>
                </c:pt>
                <c:pt idx="352">
                  <c:v>2.759</c:v>
                </c:pt>
                <c:pt idx="353">
                  <c:v>1.889</c:v>
                </c:pt>
                <c:pt idx="354">
                  <c:v>0.84</c:v>
                </c:pt>
                <c:pt idx="355">
                  <c:v>-0.277</c:v>
                </c:pt>
                <c:pt idx="356">
                  <c:v>-1.345</c:v>
                </c:pt>
                <c:pt idx="357">
                  <c:v>-2.257</c:v>
                </c:pt>
                <c:pt idx="358">
                  <c:v>-2.921</c:v>
                </c:pt>
                <c:pt idx="359">
                  <c:v>-3.273</c:v>
                </c:pt>
                <c:pt idx="360">
                  <c:v>-3.282</c:v>
                </c:pt>
                <c:pt idx="361">
                  <c:v>-2.954</c:v>
                </c:pt>
                <c:pt idx="362">
                  <c:v>-2.328</c:v>
                </c:pt>
                <c:pt idx="363">
                  <c:v>-1.473</c:v>
                </c:pt>
                <c:pt idx="364">
                  <c:v>-0.482</c:v>
                </c:pt>
                <c:pt idx="365">
                  <c:v>0.541</c:v>
                </c:pt>
                <c:pt idx="366">
                  <c:v>1.49</c:v>
                </c:pt>
                <c:pt idx="367">
                  <c:v>2.27</c:v>
                </c:pt>
                <c:pt idx="368">
                  <c:v>2.802</c:v>
                </c:pt>
                <c:pt idx="369">
                  <c:v>3.038</c:v>
                </c:pt>
                <c:pt idx="370">
                  <c:v>2.957</c:v>
                </c:pt>
                <c:pt idx="371">
                  <c:v>2.573</c:v>
                </c:pt>
                <c:pt idx="372">
                  <c:v>1.932</c:v>
                </c:pt>
                <c:pt idx="373">
                  <c:v>1.103</c:v>
                </c:pt>
                <c:pt idx="374">
                  <c:v>0.176</c:v>
                </c:pt>
                <c:pt idx="375">
                  <c:v>-0.754</c:v>
                </c:pt>
                <c:pt idx="376">
                  <c:v>-1.589</c:v>
                </c:pt>
                <c:pt idx="377">
                  <c:v>-2.247</c:v>
                </c:pt>
                <c:pt idx="378">
                  <c:v>-2.662</c:v>
                </c:pt>
                <c:pt idx="379">
                  <c:v>-2.796</c:v>
                </c:pt>
                <c:pt idx="380">
                  <c:v>-2.64</c:v>
                </c:pt>
                <c:pt idx="381">
                  <c:v>-2.216</c:v>
                </c:pt>
                <c:pt idx="382">
                  <c:v>-1.572</c:v>
                </c:pt>
                <c:pt idx="383">
                  <c:v>-0.777</c:v>
                </c:pt>
                <c:pt idx="384">
                  <c:v>0.084</c:v>
                </c:pt>
                <c:pt idx="385">
                  <c:v>0.921</c:v>
                </c:pt>
                <c:pt idx="386">
                  <c:v>1.648</c:v>
                </c:pt>
                <c:pt idx="387">
                  <c:v>2.194</c:v>
                </c:pt>
                <c:pt idx="388">
                  <c:v>2.504</c:v>
                </c:pt>
                <c:pt idx="389">
                  <c:v>2.552</c:v>
                </c:pt>
                <c:pt idx="390">
                  <c:v>2.336</c:v>
                </c:pt>
                <c:pt idx="391">
                  <c:v>1.884</c:v>
                </c:pt>
                <c:pt idx="392">
                  <c:v>1.246</c:v>
                </c:pt>
                <c:pt idx="393">
                  <c:v>0.492</c:v>
                </c:pt>
                <c:pt idx="394">
                  <c:v>-0.3</c:v>
                </c:pt>
                <c:pt idx="395">
                  <c:v>-1.047</c:v>
                </c:pt>
                <c:pt idx="396">
                  <c:v>-1.674</c:v>
                </c:pt>
                <c:pt idx="397">
                  <c:v>-2.117</c:v>
                </c:pt>
                <c:pt idx="398">
                  <c:v>-2.335</c:v>
                </c:pt>
                <c:pt idx="399">
                  <c:v>-2.309</c:v>
                </c:pt>
                <c:pt idx="400">
                  <c:v>-2.047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5"/>
          <c:min val="-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B2A35"/>
        </a:solidFill>
        <a:ln>
          <a:noFill/>
        </a:ln>
        <a:effectLst/>
      </c:spPr>
    </c:plotArea>
    <c:plotVisOnly val="1"/>
    <c:dispBlanksAs val="span"/>
  </c:chart>
  <c:spPr>
    <a:solidFill>
      <a:srgbClr val="1B2A35"/>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Mode-1 shape</c:v>
                </c:pt>
              </c:strCache>
            </c:strRef>
          </c:tx>
          <c:spPr>
            <a:solidFill>
              <a:srgbClr val="FFFFFF"/>
            </a:solidFill>
            <a:ln w="3175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FFFF"/>
              </a:solidFill>
              <a:ln w="9525" cap="flat">
                <a:solidFill>
                  <a:srgbClr val="FFFFFF"/>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Sheet1!$B$2:$B$62</c:f>
              <c:numCache>
                <c:formatCode>General</c:formatCode>
                <c:ptCount val="61"/>
                <c:pt idx="0">
                  <c:v>0</c:v>
                </c:pt>
                <c:pt idx="1">
                  <c:v>-0.0038</c:v>
                </c:pt>
                <c:pt idx="2">
                  <c:v>-0.0148</c:v>
                </c:pt>
                <c:pt idx="3">
                  <c:v>-0.0325</c:v>
                </c:pt>
                <c:pt idx="4">
                  <c:v>-0.0561</c:v>
                </c:pt>
                <c:pt idx="5">
                  <c:v>-0.0852</c:v>
                </c:pt>
                <c:pt idx="6">
                  <c:v>-0.1191</c:v>
                </c:pt>
                <c:pt idx="7">
                  <c:v>-0.1571</c:v>
                </c:pt>
                <c:pt idx="8">
                  <c:v>-0.1988</c:v>
                </c:pt>
                <c:pt idx="9">
                  <c:v>-0.2435</c:v>
                </c:pt>
                <c:pt idx="10">
                  <c:v>-0.2907</c:v>
                </c:pt>
                <c:pt idx="11">
                  <c:v>-0.3397</c:v>
                </c:pt>
                <c:pt idx="12">
                  <c:v>-0.39</c:v>
                </c:pt>
                <c:pt idx="13">
                  <c:v>-0.4411</c:v>
                </c:pt>
                <c:pt idx="14">
                  <c:v>-0.4924</c:v>
                </c:pt>
                <c:pt idx="15">
                  <c:v>-0.5435</c:v>
                </c:pt>
                <c:pt idx="16">
                  <c:v>-0.5938</c:v>
                </c:pt>
                <c:pt idx="17">
                  <c:v>-0.6428</c:v>
                </c:pt>
                <c:pt idx="18">
                  <c:v>-0.6901</c:v>
                </c:pt>
                <c:pt idx="19">
                  <c:v>-0.7353</c:v>
                </c:pt>
                <c:pt idx="20">
                  <c:v>-0.778</c:v>
                </c:pt>
                <c:pt idx="21">
                  <c:v>-0.8178</c:v>
                </c:pt>
                <c:pt idx="22">
                  <c:v>-0.8543</c:v>
                </c:pt>
                <c:pt idx="23">
                  <c:v>-0.8873</c:v>
                </c:pt>
                <c:pt idx="24">
                  <c:v>-0.9164</c:v>
                </c:pt>
                <c:pt idx="25">
                  <c:v>-0.9415</c:v>
                </c:pt>
                <c:pt idx="26">
                  <c:v>-0.9624</c:v>
                </c:pt>
                <c:pt idx="27">
                  <c:v>-0.9787</c:v>
                </c:pt>
                <c:pt idx="28">
                  <c:v>-0.9905</c:v>
                </c:pt>
                <c:pt idx="29">
                  <c:v>-0.9976</c:v>
                </c:pt>
                <c:pt idx="30">
                  <c:v>-1</c:v>
                </c:pt>
                <c:pt idx="31">
                  <c:v>-0.9976</c:v>
                </c:pt>
                <c:pt idx="32">
                  <c:v>-0.9905</c:v>
                </c:pt>
                <c:pt idx="33">
                  <c:v>-0.9787</c:v>
                </c:pt>
                <c:pt idx="34">
                  <c:v>-0.9624</c:v>
                </c:pt>
                <c:pt idx="35">
                  <c:v>-0.9415</c:v>
                </c:pt>
                <c:pt idx="36">
                  <c:v>-0.9164</c:v>
                </c:pt>
                <c:pt idx="37">
                  <c:v>-0.8873</c:v>
                </c:pt>
                <c:pt idx="38">
                  <c:v>-0.8543</c:v>
                </c:pt>
                <c:pt idx="39">
                  <c:v>-0.8178</c:v>
                </c:pt>
                <c:pt idx="40">
                  <c:v>-0.778</c:v>
                </c:pt>
                <c:pt idx="41">
                  <c:v>-0.7353</c:v>
                </c:pt>
                <c:pt idx="42">
                  <c:v>-0.6901</c:v>
                </c:pt>
                <c:pt idx="43">
                  <c:v>-0.6428</c:v>
                </c:pt>
                <c:pt idx="44">
                  <c:v>-0.5938</c:v>
                </c:pt>
                <c:pt idx="45">
                  <c:v>-0.5435</c:v>
                </c:pt>
                <c:pt idx="46">
                  <c:v>-0.4924</c:v>
                </c:pt>
                <c:pt idx="47">
                  <c:v>-0.4411</c:v>
                </c:pt>
                <c:pt idx="48">
                  <c:v>-0.39</c:v>
                </c:pt>
                <c:pt idx="49">
                  <c:v>-0.3397</c:v>
                </c:pt>
                <c:pt idx="50">
                  <c:v>-0.2907</c:v>
                </c:pt>
                <c:pt idx="51">
                  <c:v>-0.2435</c:v>
                </c:pt>
                <c:pt idx="52">
                  <c:v>-0.1988</c:v>
                </c:pt>
                <c:pt idx="53">
                  <c:v>-0.1571</c:v>
                </c:pt>
                <c:pt idx="54">
                  <c:v>-0.1191</c:v>
                </c:pt>
                <c:pt idx="55">
                  <c:v>-0.0852</c:v>
                </c:pt>
                <c:pt idx="56">
                  <c:v>-0.0561</c:v>
                </c:pt>
                <c:pt idx="57">
                  <c:v>-0.0325</c:v>
                </c:pt>
                <c:pt idx="58">
                  <c:v>-0.0148</c:v>
                </c:pt>
                <c:pt idx="59">
                  <c:v>-0.0038</c:v>
                </c:pt>
                <c:pt idx="60">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
          <c:min val="-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B2A35"/>
        </a:solidFill>
        <a:ln>
          <a:noFill/>
        </a:ln>
        <a:effectLst/>
      </c:spPr>
    </c:plotArea>
    <c:plotVisOnly val="1"/>
    <c:dispBlanksAs val="span"/>
  </c:chart>
  <c:spPr>
    <a:solidFill>
      <a:srgbClr val="1B2A35"/>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Mode-1 shape</c:v>
                </c:pt>
              </c:strCache>
            </c:strRef>
          </c:tx>
          <c:spPr>
            <a:solidFill>
              <a:srgbClr val="E8743B"/>
            </a:solidFill>
            <a:ln w="31750" cap="flat">
              <a:solidFill>
                <a:srgbClr val="E87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43B"/>
              </a:solidFill>
              <a:ln w="9525" cap="flat">
                <a:solidFill>
                  <a:srgbClr val="E8743B"/>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Sheet1!$B$2:$B$62</c:f>
              <c:numCache>
                <c:formatCode>General</c:formatCode>
                <c:ptCount val="61"/>
                <c:pt idx="0">
                  <c:v>0</c:v>
                </c:pt>
                <c:pt idx="1">
                  <c:v>-0.0038</c:v>
                </c:pt>
                <c:pt idx="2">
                  <c:v>-0.0148</c:v>
                </c:pt>
                <c:pt idx="3">
                  <c:v>-0.0325</c:v>
                </c:pt>
                <c:pt idx="4">
                  <c:v>-0.0561</c:v>
                </c:pt>
                <c:pt idx="5">
                  <c:v>-0.0852</c:v>
                </c:pt>
                <c:pt idx="6">
                  <c:v>-0.1191</c:v>
                </c:pt>
                <c:pt idx="7">
                  <c:v>-0.1571</c:v>
                </c:pt>
                <c:pt idx="8">
                  <c:v>-0.1988</c:v>
                </c:pt>
                <c:pt idx="9">
                  <c:v>-0.2435</c:v>
                </c:pt>
                <c:pt idx="10">
                  <c:v>-0.2907</c:v>
                </c:pt>
                <c:pt idx="11">
                  <c:v>-0.3397</c:v>
                </c:pt>
                <c:pt idx="12">
                  <c:v>-0.39</c:v>
                </c:pt>
                <c:pt idx="13">
                  <c:v>-0.4411</c:v>
                </c:pt>
                <c:pt idx="14">
                  <c:v>-0.4924</c:v>
                </c:pt>
                <c:pt idx="15">
                  <c:v>-0.5435</c:v>
                </c:pt>
                <c:pt idx="16">
                  <c:v>-0.5938</c:v>
                </c:pt>
                <c:pt idx="17">
                  <c:v>-0.6428</c:v>
                </c:pt>
                <c:pt idx="18">
                  <c:v>-0.6901</c:v>
                </c:pt>
                <c:pt idx="19">
                  <c:v>-0.7353</c:v>
                </c:pt>
                <c:pt idx="20">
                  <c:v>-0.778</c:v>
                </c:pt>
                <c:pt idx="21">
                  <c:v>-0.8178</c:v>
                </c:pt>
                <c:pt idx="22">
                  <c:v>-0.8543</c:v>
                </c:pt>
                <c:pt idx="23">
                  <c:v>-0.8873</c:v>
                </c:pt>
                <c:pt idx="24">
                  <c:v>-0.9164</c:v>
                </c:pt>
                <c:pt idx="25">
                  <c:v>-0.9415</c:v>
                </c:pt>
                <c:pt idx="26">
                  <c:v>-0.9624</c:v>
                </c:pt>
                <c:pt idx="27">
                  <c:v>-0.9787</c:v>
                </c:pt>
                <c:pt idx="28">
                  <c:v>-0.9905</c:v>
                </c:pt>
                <c:pt idx="29">
                  <c:v>-0.9976</c:v>
                </c:pt>
                <c:pt idx="30">
                  <c:v>-1</c:v>
                </c:pt>
                <c:pt idx="31">
                  <c:v>-0.9976</c:v>
                </c:pt>
                <c:pt idx="32">
                  <c:v>-0.9905</c:v>
                </c:pt>
                <c:pt idx="33">
                  <c:v>-0.9787</c:v>
                </c:pt>
                <c:pt idx="34">
                  <c:v>-0.9624</c:v>
                </c:pt>
                <c:pt idx="35">
                  <c:v>-0.9415</c:v>
                </c:pt>
                <c:pt idx="36">
                  <c:v>-0.9164</c:v>
                </c:pt>
                <c:pt idx="37">
                  <c:v>-0.8873</c:v>
                </c:pt>
                <c:pt idx="38">
                  <c:v>-0.8543</c:v>
                </c:pt>
                <c:pt idx="39">
                  <c:v>-0.8178</c:v>
                </c:pt>
                <c:pt idx="40">
                  <c:v>-0.778</c:v>
                </c:pt>
                <c:pt idx="41">
                  <c:v>-0.7353</c:v>
                </c:pt>
                <c:pt idx="42">
                  <c:v>-0.6901</c:v>
                </c:pt>
                <c:pt idx="43">
                  <c:v>-0.6428</c:v>
                </c:pt>
                <c:pt idx="44">
                  <c:v>-0.5938</c:v>
                </c:pt>
                <c:pt idx="45">
                  <c:v>-0.5435</c:v>
                </c:pt>
                <c:pt idx="46">
                  <c:v>-0.4924</c:v>
                </c:pt>
                <c:pt idx="47">
                  <c:v>-0.4411</c:v>
                </c:pt>
                <c:pt idx="48">
                  <c:v>-0.39</c:v>
                </c:pt>
                <c:pt idx="49">
                  <c:v>-0.3397</c:v>
                </c:pt>
                <c:pt idx="50">
                  <c:v>-0.2907</c:v>
                </c:pt>
                <c:pt idx="51">
                  <c:v>-0.2435</c:v>
                </c:pt>
                <c:pt idx="52">
                  <c:v>-0.1988</c:v>
                </c:pt>
                <c:pt idx="53">
                  <c:v>-0.1571</c:v>
                </c:pt>
                <c:pt idx="54">
                  <c:v>-0.1191</c:v>
                </c:pt>
                <c:pt idx="55">
                  <c:v>-0.0852</c:v>
                </c:pt>
                <c:pt idx="56">
                  <c:v>-0.0561</c:v>
                </c:pt>
                <c:pt idx="57">
                  <c:v>-0.0325</c:v>
                </c:pt>
                <c:pt idx="58">
                  <c:v>-0.0148</c:v>
                </c:pt>
                <c:pt idx="59">
                  <c:v>-0.0038</c:v>
                </c:pt>
                <c:pt idx="60">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
          <c:min val="-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35"/>
                </a:solidFill>
                <a:latin typeface="+mn-lt"/>
              </a:defRPr>
            </a:pPr>
            <a:r>
              <a:rPr sz="1300" b="0" i="0" u="none" strike="noStrike">
                <a:solidFill>
                  <a:srgbClr val="1B2A35"/>
                </a:solidFill>
                <a:latin typeface="+mn-lt"/>
              </a:rPr>
              <a:t>NTK loss weights during C0 training (PDE weight λ_f = 1)</a:t>
            </a:r>
          </a:p>
        </c:rich>
      </c:tx>
      <c:layout/>
      <c:overlay val="0"/>
    </c:title>
    <c:autoTitleDeleted val="0"/>
    <c:plotArea>
      <c:layout/>
      <c:lineChart>
        <c:varyColors val="0"/>
        <c:ser>
          <c:idx val="0"/>
          <c:order val="0"/>
          <c:tx>
            <c:strRef>
              <c:f>Sheet1!$B$1</c:f>
              <c:strCache>
                <c:ptCount val="1"/>
                <c:pt idx="0">
                  <c:v>λ_ux (slope BC)</c:v>
                </c:pt>
              </c:strCache>
            </c:strRef>
          </c:tx>
          <c:spPr>
            <a:solidFill>
              <a:srgbClr val="E8743B"/>
            </a:solidFill>
            <a:ln w="25400" cap="flat">
              <a:solidFill>
                <a:srgbClr val="E87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743B"/>
              </a:solidFill>
              <a:ln w="9525" cap="flat">
                <a:solidFill>
                  <a:srgbClr val="E8743B"/>
                </a:solidFill>
                <a:prstDash val="solid"/>
                <a:round/>
              </a:ln>
              <a:effectLst/>
            </c:spPr>
          </c:marker>
          <c:cat>
            <c:multiLvlStrRef>
              <c:f>Sheet1!$A$2:$A$22</c:f>
              <c:multiLvlStrCache>
                <c:ptCount val="21"/>
                <c:lvl>
                  <c:pt idx="0">
                    <c:v>1</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lvl>
              </c:multiLvlStrCache>
            </c:multiLvlStrRef>
          </c:cat>
          <c:val>
            <c:numRef>
              <c:f>Sheet1!$B$2:$B$22</c:f>
              <c:numCache>
                <c:formatCode>General</c:formatCode>
                <c:ptCount val="21"/>
                <c:pt idx="0">
                  <c:v>559022725541184.4</c:v>
                </c:pt>
                <c:pt idx="1">
                  <c:v>511218804065275.9</c:v>
                </c:pt>
                <c:pt idx="2">
                  <c:v>458362554893844.4</c:v>
                </c:pt>
                <c:pt idx="3">
                  <c:v>364940318113207.1</c:v>
                </c:pt>
                <c:pt idx="4">
                  <c:v>359309077311088.3</c:v>
                </c:pt>
                <c:pt idx="5">
                  <c:v>334079663885807</c:v>
                </c:pt>
                <c:pt idx="6">
                  <c:v>334755715829141.25</c:v>
                </c:pt>
                <c:pt idx="7">
                  <c:v>345111805508956.94</c:v>
                </c:pt>
                <c:pt idx="8">
                  <c:v>347717328974405.25</c:v>
                </c:pt>
                <c:pt idx="9">
                  <c:v>326653571846875.25</c:v>
                </c:pt>
                <c:pt idx="10">
                  <c:v>413609846031842.25</c:v>
                </c:pt>
                <c:pt idx="11">
                  <c:v>420535465040701.94</c:v>
                </c:pt>
                <c:pt idx="12">
                  <c:v>501247643432664.1</c:v>
                </c:pt>
                <c:pt idx="13">
                  <c:v>507295041106996.9</c:v>
                </c:pt>
                <c:pt idx="14">
                  <c:v>528788458671796.56</c:v>
                </c:pt>
                <c:pt idx="15">
                  <c:v>542356363579358.44</c:v>
                </c:pt>
                <c:pt idx="16">
                  <c:v>564074879788096.1</c:v>
                </c:pt>
                <c:pt idx="17">
                  <c:v>684162581306450.1</c:v>
                </c:pt>
                <c:pt idx="18">
                  <c:v>711100032872363.4</c:v>
                </c:pt>
                <c:pt idx="19">
                  <c:v>637436980332309.6</c:v>
                </c:pt>
                <c:pt idx="20">
                  <c:v>992715281239702.4</c:v>
                </c:pt>
              </c:numCache>
            </c:numRef>
          </c:val>
          <c:smooth val="0"/>
        </c:ser>
        <c:ser>
          <c:idx val="1"/>
          <c:order val="1"/>
          <c:tx>
            <c:strRef>
              <c:f>Sheet1!$C$1</c:f>
              <c:strCache>
                <c:ptCount val="1"/>
                <c:pt idx="0">
                  <c:v>λ_ut (velocity IC)</c:v>
                </c:pt>
              </c:strCache>
            </c:strRef>
          </c:tx>
          <c:spPr>
            <a:solidFill>
              <a:srgbClr val="B5473A"/>
            </a:solidFill>
            <a:ln w="25400" cap="flat">
              <a:solidFill>
                <a:srgbClr val="B547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5473A"/>
              </a:solidFill>
              <a:ln w="9525" cap="flat">
                <a:solidFill>
                  <a:srgbClr val="B5473A"/>
                </a:solidFill>
                <a:prstDash val="solid"/>
                <a:round/>
              </a:ln>
              <a:effectLst/>
            </c:spPr>
          </c:marker>
          <c:cat>
            <c:multiLvlStrRef>
              <c:f>Sheet1!$A$2:$A$22</c:f>
              <c:multiLvlStrCache>
                <c:ptCount val="21"/>
                <c:lvl>
                  <c:pt idx="0">
                    <c:v>1</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lvl>
              </c:multiLvlStrCache>
            </c:multiLvlStrRef>
          </c:cat>
          <c:val>
            <c:numRef>
              <c:f>Sheet1!$C$2:$C$22</c:f>
              <c:numCache>
                <c:formatCode>General</c:formatCode>
                <c:ptCount val="21"/>
                <c:pt idx="0">
                  <c:v>13462756691934.045</c:v>
                </c:pt>
                <c:pt idx="1">
                  <c:v>12145383462213.064</c:v>
                </c:pt>
                <c:pt idx="2">
                  <c:v>11172674335509.156</c:v>
                </c:pt>
                <c:pt idx="3">
                  <c:v>8544407888497.504</c:v>
                </c:pt>
                <c:pt idx="4">
                  <c:v>9851456190528.924</c:v>
                </c:pt>
                <c:pt idx="5">
                  <c:v>18983560634422.348</c:v>
                </c:pt>
                <c:pt idx="6">
                  <c:v>25556134029335.6</c:v>
                </c:pt>
                <c:pt idx="7">
                  <c:v>53434579491797.28</c:v>
                </c:pt>
                <c:pt idx="8">
                  <c:v>108045049613672.03</c:v>
                </c:pt>
                <c:pt idx="9">
                  <c:v>114881060924218.45</c:v>
                </c:pt>
                <c:pt idx="10">
                  <c:v>189456605648594.78</c:v>
                </c:pt>
                <c:pt idx="11">
                  <c:v>199469970061749.62</c:v>
                </c:pt>
                <c:pt idx="12">
                  <c:v>139313648543187.28</c:v>
                </c:pt>
                <c:pt idx="13">
                  <c:v>134384619977768.31</c:v>
                </c:pt>
                <c:pt idx="14">
                  <c:v>135519527223761.9</c:v>
                </c:pt>
                <c:pt idx="15">
                  <c:v>132433840865519.7</c:v>
                </c:pt>
                <c:pt idx="16">
                  <c:v>138102261251998.06</c:v>
                </c:pt>
                <c:pt idx="17">
                  <c:v>175913097175246.34</c:v>
                </c:pt>
                <c:pt idx="18">
                  <c:v>220518007010854.3</c:v>
                </c:pt>
                <c:pt idx="19">
                  <c:v>292911437928859.3</c:v>
                </c:pt>
                <c:pt idx="20">
                  <c:v>852428709026287.2</c:v>
                </c:pt>
              </c:numCache>
            </c:numRef>
          </c:val>
          <c:smooth val="0"/>
        </c:ser>
        <c:ser>
          <c:idx val="2"/>
          <c:order val="2"/>
          <c:tx>
            <c:strRef>
              <c:f>Sheet1!$D$1</c:f>
              <c:strCache>
                <c:ptCount val="1"/>
                <c:pt idx="0">
                  <c:v>λ_u (displacement IC/BC)</c:v>
                </c:pt>
              </c:strCache>
            </c:strRef>
          </c:tx>
          <c:spPr>
            <a:solidFill>
              <a:srgbClr val="8A9AA6"/>
            </a:solidFill>
            <a:ln w="25400" cap="flat">
              <a:solidFill>
                <a:srgbClr val="8A9A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AA6"/>
              </a:solidFill>
              <a:ln w="9525" cap="flat">
                <a:solidFill>
                  <a:srgbClr val="8A9AA6"/>
                </a:solidFill>
                <a:prstDash val="solid"/>
                <a:round/>
              </a:ln>
              <a:effectLst/>
            </c:spPr>
          </c:marker>
          <c:cat>
            <c:multiLvlStrRef>
              <c:f>Sheet1!$A$2:$A$22</c:f>
              <c:multiLvlStrCache>
                <c:ptCount val="21"/>
                <c:lvl>
                  <c:pt idx="0">
                    <c:v>1</c:v>
                  </c:pt>
                  <c:pt idx="1">
                    <c:v>1000</c:v>
                  </c:pt>
                  <c:pt idx="2">
                    <c:v>2000</c:v>
                  </c:pt>
                  <c:pt idx="3">
                    <c:v>3000</c:v>
                  </c:pt>
                  <c:pt idx="4">
                    <c:v>4000</c:v>
                  </c:pt>
                  <c:pt idx="5">
                    <c:v>5000</c:v>
                  </c:pt>
                  <c:pt idx="6">
                    <c:v>6000</c:v>
                  </c:pt>
                  <c:pt idx="7">
                    <c:v>7000</c:v>
                  </c:pt>
                  <c:pt idx="8">
                    <c:v>8000</c:v>
                  </c:pt>
                  <c:pt idx="9">
                    <c:v>9000</c:v>
                  </c:pt>
                  <c:pt idx="10">
                    <c:v>10000</c:v>
                  </c:pt>
                  <c:pt idx="11">
                    <c:v>11000</c:v>
                  </c:pt>
                  <c:pt idx="12">
                    <c:v>12000</c:v>
                  </c:pt>
                  <c:pt idx="13">
                    <c:v>13000</c:v>
                  </c:pt>
                  <c:pt idx="14">
                    <c:v>14000</c:v>
                  </c:pt>
                  <c:pt idx="15">
                    <c:v>15000</c:v>
                  </c:pt>
                  <c:pt idx="16">
                    <c:v>16000</c:v>
                  </c:pt>
                  <c:pt idx="17">
                    <c:v>17000</c:v>
                  </c:pt>
                  <c:pt idx="18">
                    <c:v>18000</c:v>
                  </c:pt>
                  <c:pt idx="19">
                    <c:v>19000</c:v>
                  </c:pt>
                  <c:pt idx="20">
                    <c:v>20000</c:v>
                  </c:pt>
                </c:lvl>
              </c:multiLvlStrCache>
            </c:multiLvlStrRef>
          </c:cat>
          <c:val>
            <c:numRef>
              <c:f>Sheet1!$D$2:$D$22</c:f>
              <c:numCache>
                <c:formatCode>General</c:formatCode>
                <c:ptCount val="21"/>
                <c:pt idx="0">
                  <c:v>102897713732426.67</c:v>
                </c:pt>
                <c:pt idx="1">
                  <c:v>30947042305263.93</c:v>
                </c:pt>
                <c:pt idx="2">
                  <c:v>21414574526983.516</c:v>
                </c:pt>
                <c:pt idx="3">
                  <c:v>13012002994309.283</c:v>
                </c:pt>
                <c:pt idx="4">
                  <c:v>10014673655168.238</c:v>
                </c:pt>
                <c:pt idx="5">
                  <c:v>6766917082138.072</c:v>
                </c:pt>
                <c:pt idx="6">
                  <c:v>5255829144720.0205</c:v>
                </c:pt>
                <c:pt idx="7">
                  <c:v>3822525631478.3193</c:v>
                </c:pt>
                <c:pt idx="8">
                  <c:v>2660220405808.9473</c:v>
                </c:pt>
                <c:pt idx="9">
                  <c:v>1900115332332.313</c:v>
                </c:pt>
                <c:pt idx="10">
                  <c:v>1679915407959.7317</c:v>
                </c:pt>
                <c:pt idx="11">
                  <c:v>1148821737922.816</c:v>
                </c:pt>
                <c:pt idx="12">
                  <c:v>139178371727.90533</c:v>
                </c:pt>
                <c:pt idx="13">
                  <c:v>135259971432.37833</c:v>
                </c:pt>
                <c:pt idx="14">
                  <c:v>138894561300.40073</c:v>
                </c:pt>
                <c:pt idx="15">
                  <c:v>139764955882.05804</c:v>
                </c:pt>
                <c:pt idx="16">
                  <c:v>157820887386.8247</c:v>
                </c:pt>
                <c:pt idx="17">
                  <c:v>285176923999.4158</c:v>
                </c:pt>
                <c:pt idx="18">
                  <c:v>552738477463.4565</c:v>
                </c:pt>
                <c:pt idx="19">
                  <c:v>485258484123.97473</c:v>
                </c:pt>
                <c:pt idx="20">
                  <c:v>628575308444.0526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3C5566"/>
                    </a:solidFill>
                    <a:latin typeface="+mn-lt"/>
                  </a:defRPr>
                </a:pPr>
                <a:r>
                  <a:rPr sz="1100" b="0" i="0" u="none" strike="noStrike">
                    <a:solidFill>
                      <a:srgbClr val="3C5566"/>
                    </a:solidFill>
                    <a:latin typeface="+mn-lt"/>
                  </a:rPr>
                  <a:t>optimizer step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C5566"/>
                </a:solidFill>
                <a:latin typeface="+mn-lt"/>
              </a:defRPr>
            </a:pPr>
            <a:endParaRPr lang="en-US"/>
          </a:p>
        </c:txPr>
        <c:crossAx val="2094734552"/>
        <c:crosses val="autoZero"/>
        <c:auto val="1"/>
        <c:lblAlgn val="ctr"/>
        <c:noMultiLvlLbl val="1"/>
        <c:tickLblSkip val="5"/>
      </c:catAx>
      <c:valAx>
        <c:axId val="2094734552"/>
        <c:scaling>
          <c:logBase val="10"/>
          <c:orientation val="minMax"/>
          <c:max val="10000000000000000"/>
          <c:min val="10000000000"/>
        </c:scaling>
        <c:delete val="0"/>
        <c:axPos val="l"/>
        <c:majorGridlines>
          <c:spPr>
            <a:ln w="9525" cap="flat">
              <a:solidFill>
                <a:srgbClr val="E3E8EB"/>
              </a:solidFill>
              <a:prstDash val="solid"/>
              <a:round/>
            </a:ln>
          </c:spPr>
        </c:majorGridlines>
        <c:title>
          <c:tx>
            <c:rich>
              <a:bodyPr/>
              <a:lstStyle/>
              <a:p>
                <a:pPr>
                  <a:defRPr sz="1100" b="0" i="0" u="none" strike="noStrike">
                    <a:solidFill>
                      <a:srgbClr val="3C5566"/>
                    </a:solidFill>
                    <a:latin typeface="+mn-lt"/>
                  </a:defRPr>
                </a:pPr>
                <a:r>
                  <a:rPr sz="1100" b="0" i="0" u="none" strike="noStrike">
                    <a:solidFill>
                      <a:srgbClr val="3C5566"/>
                    </a:solidFill>
                    <a:latin typeface="+mn-lt"/>
                  </a:rPr>
                  <a:t>weight (log scale)</a:t>
                </a:r>
              </a:p>
            </c:rich>
          </c:tx>
          <c:layout/>
          <c:overlay val="0"/>
        </c:title>
        <c:numFmt formatCode="0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C55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C55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35"/>
                </a:solidFill>
                <a:latin typeface="+mn-lt"/>
              </a:defRPr>
            </a:pPr>
            <a:r>
              <a:rPr sz="1300" b="0" i="0" u="none" strike="noStrike">
                <a:solidFill>
                  <a:srgbClr val="1B2A35"/>
                </a:solidFill>
                <a:latin typeface="+mn-lt"/>
              </a:rPr>
              <a:t>Collapse time vs cumulative PDE-residual evaluations (checkpoints every 5 000 steps)</a:t>
            </a:r>
          </a:p>
        </c:rich>
      </c:tx>
      <c:layout/>
      <c:overlay val="0"/>
    </c:title>
    <c:autoTitleDeleted val="0"/>
    <c:plotArea>
      <c:layout/>
      <c:scatterChart>
        <c:scatterStyle val="lineMarker"/>
        <c:varyColors val="0"/>
        <c:ser>
          <c:idx val="0"/>
          <c:order val="0"/>
          <c:tx>
            <c:strRef>
              <c:f>Sheet1!$B$1</c:f>
              <c:strCache>
                <c:ptCount val="1"/>
                <c:pt idx="0">
                  <c:v>Y1 recipe, mini-batch 32 (5k–20k steps)</c:v>
                </c:pt>
              </c:strCache>
            </c:strRef>
          </c:tx>
          <c:spPr>
            <a:solidFill>
              <a:srgbClr val="2A9D8F"/>
            </a:solidFill>
            <a:ln w="25400" cap="flat">
              <a:solidFill>
                <a:srgbClr val="2A9D8F"/>
              </a:solidFill>
              <a:prstDash val="solid"/>
              <a:round/>
            </a:ln>
            <a:effectLst/>
          </c:spPr>
          <c:marker>
            <c:symbol val="circle"/>
            <c:size val="9"/>
            <c:spPr>
              <a:solidFill>
                <a:srgbClr val="2A9D8F"/>
              </a:solidFill>
              <a:ln w="9525" cap="flat">
                <a:solidFill>
                  <a:srgbClr val="2A9D8F"/>
                </a:solidFill>
                <a:prstDash val="solid"/>
                <a:round/>
              </a:ln>
              <a:effectLst/>
            </c:spPr>
          </c:marker>
          <c:xVal>
            <c:numRef>
              <c:f>Sheet1!$A$2:$A$9</c:f>
              <c:numCache>
                <c:formatCode>General</c:formatCode>
                <c:ptCount val="8"/>
                <c:pt idx="0">
                  <c:v>0.16</c:v>
                </c:pt>
                <c:pt idx="1">
                  <c:v>0.32</c:v>
                </c:pt>
                <c:pt idx="2">
                  <c:v>0.48</c:v>
                </c:pt>
                <c:pt idx="3">
                  <c:v>0.64</c:v>
                </c:pt>
                <c:pt idx="4">
                  <c:v>0.64</c:v>
                </c:pt>
                <c:pt idx="5">
                  <c:v>1.28</c:v>
                </c:pt>
                <c:pt idx="6">
                  <c:v>1.92</c:v>
                </c:pt>
                <c:pt idx="7">
                  <c:v>2.56</c:v>
                </c:pt>
              </c:numCache>
            </c:numRef>
          </c:xVal>
          <c:yVal>
            <c:numRef>
              <c:f>Sheet1!$B$2:$B$9</c:f>
              <c:numCache>
                <c:formatCode>General</c:formatCode>
                <c:ptCount val="8"/>
                <c:pt idx="0">
                  <c:v>0.057</c:v>
                </c:pt>
                <c:pt idx="1">
                  <c:v>0.0815</c:v>
                </c:pt>
                <c:pt idx="2">
                  <c:v>0.10375000000000001</c:v>
                </c:pt>
                <c:pt idx="3">
                  <c:v>0.151</c:v>
                </c:pt>
                <c:pt idx="4">
                  <c:v/>
                </c:pt>
                <c:pt idx="5">
                  <c:v/>
                </c:pt>
                <c:pt idx="6">
                  <c:v/>
                </c:pt>
                <c:pt idx="7">
                  <c:v/>
                </c:pt>
              </c:numCache>
            </c:numRef>
          </c:yVal>
          <c:smooth val="0"/>
        </c:ser>
        <c:ser>
          <c:idx val="1"/>
          <c:order val="1"/>
          <c:tx>
            <c:strRef>
              <c:f>Sheet1!$C$1</c:f>
              <c:strCache>
                <c:ptCount val="1"/>
                <c:pt idx="0">
                  <c:v>Z4 recipe, mini-batch 128 (5k–20k steps)</c:v>
                </c:pt>
              </c:strCache>
            </c:strRef>
          </c:tx>
          <c:spPr>
            <a:solidFill>
              <a:srgbClr val="E8743B"/>
            </a:solidFill>
            <a:ln w="25400" cap="flat">
              <a:solidFill>
                <a:srgbClr val="E8743B"/>
              </a:solidFill>
              <a:prstDash val="solid"/>
              <a:round/>
            </a:ln>
            <a:effectLst/>
          </c:spPr>
          <c:marker>
            <c:symbol val="circle"/>
            <c:size val="9"/>
            <c:spPr>
              <a:solidFill>
                <a:srgbClr val="E8743B"/>
              </a:solidFill>
              <a:ln w="9525" cap="flat">
                <a:solidFill>
                  <a:srgbClr val="E8743B"/>
                </a:solidFill>
                <a:prstDash val="solid"/>
                <a:round/>
              </a:ln>
              <a:effectLst/>
            </c:spPr>
          </c:marker>
          <c:xVal>
            <c:numRef>
              <c:f>Sheet1!$A$2:$A$9</c:f>
              <c:numCache>
                <c:formatCode>General</c:formatCode>
                <c:ptCount val="8"/>
                <c:pt idx="0">
                  <c:v>0.16</c:v>
                </c:pt>
                <c:pt idx="1">
                  <c:v>0.32</c:v>
                </c:pt>
                <c:pt idx="2">
                  <c:v>0.48</c:v>
                </c:pt>
                <c:pt idx="3">
                  <c:v>0.64</c:v>
                </c:pt>
                <c:pt idx="4">
                  <c:v>0.64</c:v>
                </c:pt>
                <c:pt idx="5">
                  <c:v>1.28</c:v>
                </c:pt>
                <c:pt idx="6">
                  <c:v>1.92</c:v>
                </c:pt>
                <c:pt idx="7">
                  <c:v>2.56</c:v>
                </c:pt>
              </c:numCache>
            </c:numRef>
          </c:xVal>
          <c:yVal>
            <c:numRef>
              <c:f>Sheet1!$C$2:$C$9</c:f>
              <c:numCache>
                <c:formatCode>General</c:formatCode>
                <c:ptCount val="8"/>
                <c:pt idx="0">
                  <c:v/>
                </c:pt>
                <c:pt idx="1">
                  <c:v/>
                </c:pt>
                <c:pt idx="2">
                  <c:v/>
                </c:pt>
                <c:pt idx="3">
                  <c:v/>
                </c:pt>
                <c:pt idx="4">
                  <c:v>0.15325</c:v>
                </c:pt>
                <c:pt idx="5">
                  <c:v>0.24875</c:v>
                </c:pt>
                <c:pt idx="6">
                  <c:v>0.34600000000000003</c:v>
                </c:pt>
                <c:pt idx="7">
                  <c:v>0.39325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0"/>
        </c:scaling>
        <c:delete val="0"/>
        <c:axPos val="b"/>
        <c:title>
          <c:tx>
            <c:rich>
              <a:bodyPr/>
              <a:lstStyle/>
              <a:p>
                <a:pPr>
                  <a:defRPr sz="1100" b="0" i="0" u="none" strike="noStrike">
                    <a:solidFill>
                      <a:srgbClr val="3C5566"/>
                    </a:solidFill>
                    <a:latin typeface="+mn-lt"/>
                  </a:defRPr>
                </a:pPr>
                <a:r>
                  <a:rPr sz="1100" b="0" i="0" u="none" strike="noStrike">
                    <a:solidFill>
                      <a:srgbClr val="3C5566"/>
                    </a:solidFill>
                    <a:latin typeface="+mn-lt"/>
                  </a:rPr>
                  <a:t>cumulative PDE evaluations [millions]</a:t>
                </a:r>
              </a:p>
            </c:rich>
          </c:tx>
          <c:layout/>
          <c:overlay val="0"/>
        </c:title>
        <c:numFmt formatCode="0.0"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3C5566"/>
                </a:solidFill>
                <a:latin typeface="+mn-lt"/>
              </a:defRPr>
            </a:pPr>
            <a:endParaRPr lang="en-US"/>
          </a:p>
        </c:txPr>
        <c:crossAx val="2094734552"/>
        <c:crosses val="autoZero"/>
        <c:auto val="1"/>
        <c:lblAlgn val="ctr"/>
        <c:noMultiLvlLbl val="1"/>
        <c:majorUnit val="0.5"/>
      </c:valAx>
      <c:valAx>
        <c:axId val="2094734552"/>
        <c:scaling>
          <c:orientation val="minMax"/>
          <c:max val="1"/>
          <c:min val="0"/>
        </c:scaling>
        <c:delete val="0"/>
        <c:axPos val="l"/>
        <c:majorGridlines>
          <c:spPr>
            <a:ln w="9525" cap="flat">
              <a:solidFill>
                <a:srgbClr val="E3E8EB"/>
              </a:solidFill>
              <a:prstDash val="solid"/>
              <a:round/>
            </a:ln>
          </c:spPr>
        </c:majorGridlines>
        <c:title>
          <c:tx>
            <c:rich>
              <a:bodyPr/>
              <a:lstStyle/>
              <a:p>
                <a:pPr>
                  <a:defRPr sz="1100" b="0" i="0" u="none" strike="noStrike">
                    <a:solidFill>
                      <a:srgbClr val="3C5566"/>
                    </a:solidFill>
                    <a:latin typeface="+mn-lt"/>
                  </a:defRPr>
                </a:pPr>
                <a:r>
                  <a:rPr sz="1100" b="0" i="0" u="none" strike="noStrike">
                    <a:solidFill>
                      <a:srgbClr val="3C5566"/>
                    </a:solidFill>
                    <a:latin typeface="+mn-lt"/>
                  </a:rPr>
                  <a:t>collapse time [s]  (full window = 1.0 s = 20.6 cycles)</a:t>
                </a:r>
              </a:p>
            </c:rich>
          </c:tx>
          <c:layout/>
          <c:overlay val="0"/>
        </c:title>
        <c:numFmt formatCode="0.0"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3C5566"/>
                </a:solidFill>
                <a:latin typeface="+mn-lt"/>
              </a:defRPr>
            </a:pPr>
            <a:endParaRPr lang="en-US"/>
          </a:p>
        </c:txPr>
        <c:crossAx val="2094734554"/>
        <c:crosses val="autoZero"/>
        <c:crossBetween val="midCat"/>
        <c:majorUnit val="0.2"/>
      </c:valAx>
      <c:spPr>
        <a:noFill/>
        <a:ln>
          <a:noFill/>
        </a:ln>
        <a:effectLst/>
      </c:spPr>
    </c:plotArea>
    <c:legend>
      <c:legendPos val="b"/>
      <c:overlay val="0"/>
      <c:txPr>
        <a:bodyPr/>
        <a:lstStyle/>
        <a:p>
          <a:pPr>
            <a:defRPr sz="1100">
              <a:solidFill>
                <a:srgbClr val="3C556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SHOWS: Title. This talk reports a controlled reproducibility and optimization investigation of a published Fourier-feature / NTK-weighted PINN for damped beam vibration.
WHY IT MATTERS: High-frequency, long-window transient vibration is a known hard case for PINNs; a reproducibility audit tells us what is and is not established.
KEY RESULT: We identified conditioning and optimization bottlenecks and quantified budget effects; a fully validated optimized PINN was NOT established within the tested budget.
The orange trace is the analytical reference solution (Eq. 28, exact root), not a network output. Author and institution fields are placeholders to be filled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SHOWS: The benchmark — a fixed–fixed Euler–Bernoulli beam released from its first mode shape, with viscous damping, over a 1 s window — and the published method we audited.
WHY IT MATTERS: At 20.6 Hz the window contains about 20.6 damped cycles. A PINN must propagate the correct oscillation from the initial condition through the whole window, which is the hard part.
KEY RESULT: The paper reports a relative L2 error of 4.64e-4 with Fourier features + NTK weighting. That number is the paper's, shown here as the published baseline. Fourier + NTK is not our contribution.
Sources: paper Eq. 49 and Table 3; ω_d and decay rate from our analytical reference (src/beampinn/physics/benchmarks.py).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SHOWS: The order of the investigation, from the published method to the compute-budget study, and the five audit findings that had to be fixed before any comparison was meaningful.
WHY IT MATTERS: Without a faithful baseline and a correct metric, a negative (or positive) result cannot be attributed. The dual reference matters most: the printed eigenvalue root alone accounts for 4.386e-4 relative L2, i.e. 94.5% of the published 4.64e-4, so we score against both a paper-faithful and an exact-physics reference.
KEY RESULT: Five verified implementation/evaluation issues (Stage 0 audit and Stage 0.1 corrections). The damped-cosine frequency fit has a 95th-percentile error of about 1.4e-5 at the target error level.
Sources: results_optimization/reports/STAGE0_AUDIT.md, STAGE01_CORRECTIONS.md, CONVENTIONS.md; tables/stage01_reference_comparison.csv, stage01_frequency_extractor_uncertainty.csv.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SHOWS: The paper-faithful Fourier+NTK implementation (run C0, 20 000 steps, 6.4e5 PDE evaluations). Left: the network stays near 70 mm while the exact beam oscillates. Right: the NTK weights for the IC/BC terms rise to 1e14–1e15 relative to the PDE term.
WHY IT MATTERS: The published method did not reproduce the target dynamics in our controlled implementation. Bias/normalisation repairs (D1–D4), Fourier alone, the reference-code convention and an LR schedule on C0 (Y4) also gave static or non-oscillating fields.
KEY RESULT: L2 = 3.26, amplitude ratio 0.06, fitted frequency ≈ 0, PDE residual 21.7. We describe this as an observed optimization failure (a static/low-frequency attractor). The large NTK weights coincide with it; we do not claim they cause it — no fixed-λ ablation was run.
Sources: reports/PHASE_A1_CHECKPOINT.md; tables/phaseA_summary.csv; logs/C0_paper__s1234__c41ccb1cdf/history.csv (λ values); figure crop of figures/phaseA_A1_C0_paper_diagnostics.png.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SHOWS: Left: the hard-constraint ansatz satisfies the initial and boundary conditions exactly (IC error 4.8e-6, BC error 1.4e-5). With g(t) = (t/T)² the network must output about −8 400 near t → 0 to produce the initial velocity behaviour; with g(t) = tanh²(ω₁t) it needs only O(1) values. ω₁ is computed from the PDE coefficient and the clamped-beam eigenproblem — a declared problem-specific prior, not fitted to the solution. Right: the same network architecture, trained on data from the exact solution instead of the PDE, reproduces the 20.6 Hz oscillation.
WHY IT MATTERS: It separates two explanations for the failure: inability to represent the solution vs difficulty of optimizing the physics loss. The supervised fits rule out the first.
KEY RESULT: Supervised X3/X4 recover ω = 129.25 / 129.37 rad/s (exact 129.32). The PDE-trained tanh² run X2 reached L2 0.909 and oscillated, but at 112.2 rad/s and over-damped. Conclusion: the network has sufficient representational capacity; the principal difficulty is physics-constrained optimization/conditioning.
Sources: reports/PHASE_E_SCREEN.md, PHASE_X_DIAGNOSTIC.md; profiles/phaseE_ansatz_conditioning.txt; tables/phaseX_conditioning.csv, phaseX_oscillation.csv; figure crop of figures/phaseX_midspan_traces.png.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SHOWS: The sequence of single-factor changes after the conditioning fix, with the relative L2 error and the measured persistence (cycles before the local amplitude drops below half the exact amplitude), and one representative trace of the most persistent candidate.
WHY IT MATTERS: Frequency is now correct and the first cycles are reproduced, but the solution decays too fast and then collapses toward a low-amplitude trajectory. That is the remaining failure mode.
KEY RESULT: Y1 L2 0.774 (1.2 cycles) → Z4 0.526 (3.2 cycles) → Z4-20K 0.263 (8.1 cycles of 20.6). Frequency 129.2 rad/s (exact 129.32); decay 5.40 1/s vs 3.54 — still over-damped. RAD (Z1) gave 0.718 / 1.6 cycles and did not resolve the collapse; a second seed (Z2) showed the same failure mode. Z4-20K's L2 of 0.263 is roughly 570× the published 4.64e-4; full-window reproduction was not achieved.
Sources: reports/PHASE_E_SCREEN.md, PHASE_X_DIAGNOSTIC.md, PHASE_Y_OPTIMIZER_DIAGNOSTIC.md, PHASE_Z_DIAGNOSTIC.md, PHASE_Y1_20K_BUDGET_DIAGNOSTIC.md, PHASE_Z4_20K_BUDGET_DIAGNOSTIC.md; tables/phaseY1_20K_checkpoints.csv, phaseZ4_20K_checkpoints.csv; figure crop of figures/phaseZ4_20K_disp_traces.png.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SHOWS: The collapse time (first time the local amplitude ratio falls below 0.5) at every 5 000-step checkpoint of the two 20 000-step runs, plotted against cumulative PDE-residual evaluations (steps × mini-batch).
WHY IT MATTERS: It tests whether the collapse is a fixed attractor or budget-limited. Within the tested range the collapse front moves monotonically later with physics computation.
KEY RESULT: Y1-20K: 6.4e5 evaluations, 0.151 s, 3.1 cycles, L2 0.550. Z4-20K: 2.56e6 evaluations, 0.393 s, 8.1 cycles, L2 0.263. Within the tested range, increased physics computation produced progressively longer dynamic persistence and lower error, but did not yield full-window reproduction. Batch size cannot be isolated: at equal evaluations the two recipes reach the same state; the larger batch only reached it in 0.57× the wall-clock time on this CPU. The last block's advance was about half of the previous ones, so we do not extrapolate.
Sources: tables/phaseY1_20K_checkpoints.csv, phaseZ4_20K_checkpoints.csv; reports/PHASE_Y1_20K_BUDGET_DIAGNOSTIC.md, PHASE_Z4_20K_BUDGET_DIAGNOSTIC.md (also figures/budget_collapse_vs_pde_evals.png).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SHOWS: The final scientific position of the study, separated into what is established, what is not, and what comes next.
CENTRAL CONCLUSION: We performed a controlled reproducibility and optimization investigation of a Fourier/NTK PINN for damped beam vibration, identified conditioning and optimization bottlenecks, verified that the network can represent the target dynamics, and quantified how training strategy and physics-computation budget affect late-time dynamic persistence. A fully validated optimized PINN was not established within the tested budget.
WHY IT MATTERS: The negative and diagnostic results are informative: they locate the difficulty in physics-constrained optimization rather than representation, and they show the published result is not reproduced by a faithful implementation at the tested budgets.
KEY RESULT: Best measured candidate (Z4-20K) reaches 8.1 of 20.6 cycles, L2 0.263 — not a validated method. Mode 2 was not run, because no Mode-1 candidate passed the gate. The railway / SHM pathway on the bottom row is future work only; no railway result exists or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8778240" cy="173736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834640"/>
            <a:ext cx="877824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chemeClr val="accent5"/>
                </a:solidFill>
              </a:rPr>
              <a:t>Reproducibility study of Söyleyici &amp; Ünver (EAAI 2025) · FE-D-M1, Mode 1 · frozen results only</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chemeClr val="accent5"/>
                </a:solidFill>
              </a:rPr>
              <a:t>Reproducibility study of Söyleyici &amp; Ünver (EAAI 2025) · FE-D-M1, Mode 1 · frozen results only</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8778240" cy="173736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Reproducibility and Optimization of Physics-Informed Neural Networks for High-Frequency Beam Vibration</a:t>
            </a:r>
            <a:endParaRPr lang="en-US" sz="3800" dirty="0"/>
          </a:p>
        </p:txBody>
      </p:sp>
      <p:sp>
        <p:nvSpPr>
          <p:cNvPr id="3" name="Text 0"/>
          <p:cNvSpPr/>
          <p:nvPr>
            <p:ph idx="101" type="body" hasCustomPrompt="1"/>
          </p:nvPr>
        </p:nvSpPr>
        <p:spPr>
          <a:xfrm>
            <a:off x="548640" y="2834640"/>
            <a:ext cx="8778240" cy="822960"/>
          </a:xfrm>
          <a:prstGeom prst="rect">
            <a:avLst/>
          </a:prstGeom>
          <a:noFill/>
          <a:ln/>
        </p:spPr>
        <p:txBody>
          <a:bodyPr wrap="square" lIns="0" tIns="0" rIns="0" bIns="0" rtlCol="0" anchor="t"/>
          <a:lstStyle/>
          <a:p>
            <a:pPr indent="0" marL="0">
              <a:buNone/>
            </a:pPr>
            <a:r>
              <a:rPr lang="en-US" sz="1800" dirty="0">
                <a:solidFill>
                  <a:schemeClr val="bg2"/>
                </a:solidFill>
              </a:rPr>
              <a:t>Controlled investigation of Fourier features, NTK weighting, hard constraints, optimization, sampling and computational budget</a:t>
            </a:r>
            <a:endParaRPr lang="en-US" sz="1800" dirty="0"/>
          </a:p>
        </p:txBody>
      </p:sp>
      <p:sp>
        <p:nvSpPr>
          <p:cNvPr id="4" name="Author block"/>
          <p:cNvSpPr txBox="1"/>
          <p:nvPr/>
        </p:nvSpPr>
        <p:spPr>
          <a:xfrm>
            <a:off x="548640" y="3886200"/>
            <a:ext cx="5486400" cy="914400"/>
          </a:xfrm>
          <a:prstGeom prst="rect">
            <a:avLst/>
          </a:prstGeom>
          <a:noFill/>
          <a:ln/>
        </p:spPr>
        <p:txBody>
          <a:bodyPr wrap="square" lIns="0" tIns="0" rIns="0" bIns="0" rtlCol="0" anchor="t"/>
          <a:lstStyle/>
          <a:p>
            <a:pPr indent="0" marL="0">
              <a:buNone/>
            </a:pPr>
            <a:r>
              <a:rPr lang="en-US" sz="1600" b="1" dirty="0">
                <a:solidFill>
                  <a:schemeClr val="bg1"/>
                </a:solidFill>
              </a:rPr>
              <a:t>[Author name]</a:t>
            </a:r>
            <a:endParaRPr lang="en-US" sz="1600" dirty="0"/>
          </a:p>
          <a:p>
            <a:pPr indent="0" marL="0">
              <a:buNone/>
            </a:pPr>
            <a:r>
              <a:rPr lang="en-US" sz="1600" dirty="0">
                <a:solidFill>
                  <a:schemeClr val="bg1"/>
                </a:solidFill>
              </a:rPr>
              <a:t>[Institution]</a:t>
            </a:r>
            <a:endParaRPr lang="en-US" sz="1600" dirty="0"/>
          </a:p>
          <a:p>
            <a:pPr indent="0" marL="0">
              <a:buNone/>
            </a:pPr>
            <a:r>
              <a:rPr lang="en-US" sz="1600" dirty="0">
                <a:solidFill>
                  <a:schemeClr val="bg1"/>
                </a:solidFill>
              </a:rPr>
              <a:t>October 2026</a:t>
            </a:r>
            <a:endParaRPr lang="en-US" sz="1600" dirty="0"/>
          </a:p>
        </p:txBody>
      </p:sp>
      <p:graphicFrame>
        <p:nvGraphicFramePr>
          <p:cNvPr id="5" name="Analytical reference signal" descr=""/>
          <p:cNvGraphicFramePr/>
          <p:nvPr/>
        </p:nvGraphicFramePr>
        <p:xfrm>
          <a:off x="320040" y="4800600"/>
          <a:ext cx="11551615" cy="1417320"/>
        </p:xfrm>
        <a:graphic xmlns:a="http://schemas.openxmlformats.org/drawingml/2006/main">
          <a:graphicData uri="http://schemas.openxmlformats.org/drawingml/2006/chart">
            <c:chart xmlns:c="http://schemas.openxmlformats.org/drawingml/2006/chart" r:id="rId1"/>
          </a:graphicData>
        </a:graphic>
      </p:graphicFrame>
      <p:sp>
        <p:nvSpPr>
          <p:cNvPr id="6" name="Signal caption"/>
          <p:cNvSpPr txBox="1"/>
          <p:nvPr/>
        </p:nvSpPr>
        <p:spPr>
          <a:xfrm>
            <a:off x="548640" y="6263640"/>
            <a:ext cx="8229600" cy="274320"/>
          </a:xfrm>
          <a:prstGeom prst="rect">
            <a:avLst/>
          </a:prstGeom>
          <a:noFill/>
          <a:ln/>
        </p:spPr>
        <p:txBody>
          <a:bodyPr wrap="square" lIns="0" tIns="0" rIns="0" bIns="0" rtlCol="0" anchor="t"/>
          <a:lstStyle/>
          <a:p>
            <a:pPr indent="0" marL="0">
              <a:buNone/>
            </a:pPr>
            <a:r>
              <a:rPr lang="en-US" sz="1000" dirty="0">
                <a:solidFill>
                  <a:schemeClr val="accent5"/>
                </a:solidFill>
              </a:rPr>
              <a:t>Analytical reference: mid-span displacement of the fixed–fixed beam, Mode 1 (20.6 Hz), t = 0–1 s</a:t>
            </a:r>
            <a:endParaRPr lang="en-US" sz="1000" dirty="0"/>
          </a:p>
        </p:txBody>
      </p:sp>
      <p:sp>
        <p:nvSpPr>
          <p:cNvPr id="7" name="Clamp left"/>
          <p:cNvSpPr/>
          <p:nvPr/>
        </p:nvSpPr>
        <p:spPr>
          <a:xfrm>
            <a:off x="9336024" y="1188720"/>
            <a:ext cx="128016" cy="685800"/>
          </a:xfrm>
          <a:prstGeom prst="rect">
            <a:avLst/>
          </a:prstGeom>
          <a:solidFill>
            <a:schemeClr val="accent5"/>
          </a:solidFill>
          <a:ln/>
        </p:spPr>
      </p:sp>
      <p:sp>
        <p:nvSpPr>
          <p:cNvPr id="8" name="Clamp right"/>
          <p:cNvSpPr/>
          <p:nvPr/>
        </p:nvSpPr>
        <p:spPr>
          <a:xfrm>
            <a:off x="11612880" y="1188720"/>
            <a:ext cx="128016" cy="685800"/>
          </a:xfrm>
          <a:prstGeom prst="rect">
            <a:avLst/>
          </a:prstGeom>
          <a:solidFill>
            <a:schemeClr val="accent5"/>
          </a:solidFill>
          <a:ln/>
        </p:spPr>
      </p:sp>
      <p:graphicFrame>
        <p:nvGraphicFramePr>
          <p:cNvPr id="9" name="Mode-1 shape" descr=""/>
          <p:cNvGraphicFramePr/>
          <p:nvPr/>
        </p:nvGraphicFramePr>
        <p:xfrm>
          <a:off x="9418320" y="1325880"/>
          <a:ext cx="2240280" cy="1051560"/>
        </p:xfrm>
        <a:graphic xmlns:a="http://schemas.openxmlformats.org/drawingml/2006/main">
          <a:graphicData uri="http://schemas.openxmlformats.org/drawingml/2006/chart">
            <c:chart xmlns:c="http://schemas.openxmlformats.org/drawingml/2006/chart" r:id="rId2"/>
          </a:graphicData>
        </a:graphic>
      </p:graphicFrame>
      <p:sp>
        <p:nvSpPr>
          <p:cNvPr id="10" name="Beam caption"/>
          <p:cNvSpPr txBox="1"/>
          <p:nvPr/>
        </p:nvSpPr>
        <p:spPr>
          <a:xfrm>
            <a:off x="9189720" y="2468880"/>
            <a:ext cx="2697480" cy="274320"/>
          </a:xfrm>
          <a:prstGeom prst="rect">
            <a:avLst/>
          </a:prstGeom>
          <a:noFill/>
          <a:ln/>
        </p:spPr>
        <p:txBody>
          <a:bodyPr wrap="square" lIns="0" tIns="0" rIns="0" bIns="0" rtlCol="0" anchor="t"/>
          <a:lstStyle/>
          <a:p>
            <a:pPr algn="ctr" indent="0" marL="0">
              <a:buNone/>
            </a:pPr>
            <a:r>
              <a:rPr lang="en-US" sz="1000" dirty="0">
                <a:solidFill>
                  <a:schemeClr val="accent5"/>
                </a:solidFill>
              </a:rPr>
              <a:t>Fixed–fixed Euler–Bernoulli beam, first mode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PROBLEM AND TARGET PAPER</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damped, high-frequency beam transient</a:t>
            </a:r>
            <a:endParaRPr lang="en-US" sz="3200" dirty="0"/>
          </a:p>
        </p:txBody>
      </p:sp>
      <p:sp>
        <p:nvSpPr>
          <p:cNvPr id="4" name="Physics heading"/>
          <p:cNvSpPr txBox="1"/>
          <p:nvPr/>
        </p:nvSpPr>
        <p:spPr>
          <a:xfrm>
            <a:off x="548640" y="1508760"/>
            <a:ext cx="548640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The physical problem</a:t>
            </a:r>
            <a:endParaRPr lang="en-US" sz="2000" dirty="0"/>
          </a:p>
        </p:txBody>
      </p:sp>
      <p:sp>
        <p:nvSpPr>
          <p:cNvPr id="5" name="Clamp left"/>
          <p:cNvSpPr/>
          <p:nvPr/>
        </p:nvSpPr>
        <p:spPr>
          <a:xfrm>
            <a:off x="704088" y="1965960"/>
            <a:ext cx="164592" cy="960120"/>
          </a:xfrm>
          <a:prstGeom prst="rect">
            <a:avLst/>
          </a:prstGeom>
          <a:solidFill>
            <a:schemeClr val="tx2"/>
          </a:solidFill>
          <a:ln/>
        </p:spPr>
      </p:sp>
      <p:sp>
        <p:nvSpPr>
          <p:cNvPr id="6" name="Clamp right"/>
          <p:cNvSpPr/>
          <p:nvPr/>
        </p:nvSpPr>
        <p:spPr>
          <a:xfrm>
            <a:off x="5440680" y="1965960"/>
            <a:ext cx="164592" cy="960120"/>
          </a:xfrm>
          <a:prstGeom prst="rect">
            <a:avLst/>
          </a:prstGeom>
          <a:solidFill>
            <a:schemeClr val="tx2"/>
          </a:solidFill>
          <a:ln/>
        </p:spPr>
      </p:sp>
      <p:graphicFrame>
        <p:nvGraphicFramePr>
          <p:cNvPr id="7" name="Mode-1 shape" descr=""/>
          <p:cNvGraphicFramePr/>
          <p:nvPr/>
        </p:nvGraphicFramePr>
        <p:xfrm>
          <a:off x="822960" y="2057400"/>
          <a:ext cx="4663440" cy="868680"/>
        </p:xfrm>
        <a:graphic xmlns:a="http://schemas.openxmlformats.org/drawingml/2006/main">
          <a:graphicData uri="http://schemas.openxmlformats.org/drawingml/2006/chart">
            <c:chart xmlns:c="http://schemas.openxmlformats.org/drawingml/2006/chart" r:id="rId1"/>
          </a:graphicData>
        </a:graphic>
      </p:graphicFrame>
      <p:sp>
        <p:nvSpPr>
          <p:cNvPr id="8" name="Beam caption"/>
          <p:cNvSpPr txBox="1"/>
          <p:nvPr/>
        </p:nvSpPr>
        <p:spPr>
          <a:xfrm>
            <a:off x="548640" y="3017520"/>
            <a:ext cx="5486400" cy="274320"/>
          </a:xfrm>
          <a:prstGeom prst="rect">
            <a:avLst/>
          </a:prstGeom>
          <a:noFill/>
          <a:ln/>
        </p:spPr>
        <p:txBody>
          <a:bodyPr wrap="square" lIns="0" tIns="0" rIns="0" bIns="0" rtlCol="0" anchor="t"/>
          <a:lstStyle/>
          <a:p>
            <a:pPr indent="0" marL="0">
              <a:buNone/>
            </a:pPr>
            <a:r>
              <a:rPr lang="en-US" sz="1200" dirty="0">
                <a:solidFill>
                  <a:schemeClr val="tx2"/>
                </a:solidFill>
              </a:rPr>
              <a:t>L = 2.75 m, both ends clamped (u = u_x = 0); initial shape = Mode 1, A₀ = 0.08 m</a:t>
            </a:r>
            <a:endParaRPr lang="en-US" sz="1200" dirty="0"/>
          </a:p>
        </p:txBody>
      </p:sp>
      <p:sp>
        <p:nvSpPr>
          <p:cNvPr id="9" name="PDE card"/>
          <p:cNvSpPr/>
          <p:nvPr/>
        </p:nvSpPr>
        <p:spPr>
          <a:xfrm>
            <a:off x="548640" y="3474720"/>
            <a:ext cx="5486400" cy="685800"/>
          </a:xfrm>
          <a:prstGeom prst="roundRect">
            <a:avLst>
              <a:gd name="adj" fmla="val 10667"/>
            </a:avLst>
          </a:prstGeom>
          <a:solidFill>
            <a:schemeClr val="bg2"/>
          </a:solidFill>
          <a:ln/>
        </p:spPr>
      </p:sp>
      <p:sp>
        <p:nvSpPr>
          <p:cNvPr id="10" name="PDE text"/>
          <p:cNvSpPr txBox="1"/>
          <p:nvPr/>
        </p:nvSpPr>
        <p:spPr>
          <a:xfrm>
            <a:off x="731520" y="3538728"/>
            <a:ext cx="5120640" cy="5943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c²·u_xxxx + u_tt + γ·u_t = 0</a:t>
            </a:r>
            <a:endParaRPr lang="en-US" sz="1400" dirty="0"/>
          </a:p>
          <a:p>
            <a:pPr indent="0" marL="0">
              <a:buNone/>
            </a:pPr>
            <a:r>
              <a:rPr lang="en-US" sz="1200" dirty="0">
                <a:solidFill>
                  <a:schemeClr val="tx2"/>
                </a:solidFill>
              </a:rPr>
              <a:t>Euler–Bernoulli beam with viscous damping (paper Eq. 49): c² = 43.73², γ = 7.08</a:t>
            </a:r>
            <a:endParaRPr lang="en-US" sz="1400" dirty="0"/>
          </a:p>
        </p:txBody>
      </p:sp>
      <p:sp>
        <p:nvSpPr>
          <p:cNvPr id="11" name="Stat 1 value"/>
          <p:cNvSpPr txBox="1"/>
          <p:nvPr/>
        </p:nvSpPr>
        <p:spPr>
          <a:xfrm>
            <a:off x="548640" y="4343400"/>
            <a:ext cx="178308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20.6 Hz</a:t>
            </a:r>
            <a:endParaRPr lang="en-US" sz="2800" dirty="0"/>
          </a:p>
        </p:txBody>
      </p:sp>
      <p:sp>
        <p:nvSpPr>
          <p:cNvPr id="12" name="Stat 1 label"/>
          <p:cNvSpPr txBox="1"/>
          <p:nvPr/>
        </p:nvSpPr>
        <p:spPr>
          <a:xfrm>
            <a:off x="548640" y="4892040"/>
            <a:ext cx="1737360" cy="457200"/>
          </a:xfrm>
          <a:prstGeom prst="rect">
            <a:avLst/>
          </a:prstGeom>
          <a:noFill/>
          <a:ln/>
        </p:spPr>
        <p:txBody>
          <a:bodyPr wrap="square" lIns="0" tIns="0" rIns="0" bIns="0" rtlCol="0" anchor="t"/>
          <a:lstStyle/>
          <a:p>
            <a:pPr indent="0" marL="0">
              <a:buNone/>
            </a:pPr>
            <a:r>
              <a:rPr lang="en-US" sz="1200" dirty="0">
                <a:solidFill>
                  <a:schemeClr val="tx2"/>
                </a:solidFill>
              </a:rPr>
              <a:t>Mode 1, ω_d = 129.32 rad/s</a:t>
            </a:r>
            <a:endParaRPr lang="en-US" sz="1200" dirty="0"/>
          </a:p>
        </p:txBody>
      </p:sp>
      <p:sp>
        <p:nvSpPr>
          <p:cNvPr id="13" name="Stat 2 value"/>
          <p:cNvSpPr txBox="1"/>
          <p:nvPr/>
        </p:nvSpPr>
        <p:spPr>
          <a:xfrm>
            <a:off x="2423160" y="4343400"/>
            <a:ext cx="178308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20.6</a:t>
            </a:r>
            <a:endParaRPr lang="en-US" sz="2800" dirty="0"/>
          </a:p>
        </p:txBody>
      </p:sp>
      <p:sp>
        <p:nvSpPr>
          <p:cNvPr id="14" name="Stat 2 label"/>
          <p:cNvSpPr txBox="1"/>
          <p:nvPr/>
        </p:nvSpPr>
        <p:spPr>
          <a:xfrm>
            <a:off x="2423160" y="4892040"/>
            <a:ext cx="1737360" cy="457200"/>
          </a:xfrm>
          <a:prstGeom prst="rect">
            <a:avLst/>
          </a:prstGeom>
          <a:noFill/>
          <a:ln/>
        </p:spPr>
        <p:txBody>
          <a:bodyPr wrap="square" lIns="0" tIns="0" rIns="0" bIns="0" rtlCol="0" anchor="t"/>
          <a:lstStyle/>
          <a:p>
            <a:pPr indent="0" marL="0">
              <a:buNone/>
            </a:pPr>
            <a:r>
              <a:rPr lang="en-US" sz="1200" dirty="0">
                <a:solidFill>
                  <a:schemeClr val="tx2"/>
                </a:solidFill>
              </a:rPr>
              <a:t>cycles in the 1 s window</a:t>
            </a:r>
            <a:endParaRPr lang="en-US" sz="1200" dirty="0"/>
          </a:p>
        </p:txBody>
      </p:sp>
      <p:sp>
        <p:nvSpPr>
          <p:cNvPr id="15" name="Stat 3 value"/>
          <p:cNvSpPr txBox="1"/>
          <p:nvPr/>
        </p:nvSpPr>
        <p:spPr>
          <a:xfrm>
            <a:off x="4297680" y="4343400"/>
            <a:ext cx="178308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3.54 s⁻¹</a:t>
            </a:r>
            <a:endParaRPr lang="en-US" sz="2800" dirty="0"/>
          </a:p>
        </p:txBody>
      </p:sp>
      <p:sp>
        <p:nvSpPr>
          <p:cNvPr id="16" name="Stat 3 label"/>
          <p:cNvSpPr txBox="1"/>
          <p:nvPr/>
        </p:nvSpPr>
        <p:spPr>
          <a:xfrm>
            <a:off x="4297680" y="4892040"/>
            <a:ext cx="1737360" cy="457200"/>
          </a:xfrm>
          <a:prstGeom prst="rect">
            <a:avLst/>
          </a:prstGeom>
          <a:noFill/>
          <a:ln/>
        </p:spPr>
        <p:txBody>
          <a:bodyPr wrap="square" lIns="0" tIns="0" rIns="0" bIns="0" rtlCol="0" anchor="t"/>
          <a:lstStyle/>
          <a:p>
            <a:pPr indent="0" marL="0">
              <a:buNone/>
            </a:pPr>
            <a:r>
              <a:rPr lang="en-US" sz="1200" dirty="0">
                <a:solidFill>
                  <a:schemeClr val="tx2"/>
                </a:solidFill>
              </a:rPr>
              <a:t>physical decay rate</a:t>
            </a:r>
            <a:endParaRPr lang="en-US" sz="1200" dirty="0"/>
          </a:p>
        </p:txBody>
      </p:sp>
      <p:sp>
        <p:nvSpPr>
          <p:cNvPr id="17" name="Published baseline card"/>
          <p:cNvSpPr/>
          <p:nvPr/>
        </p:nvSpPr>
        <p:spPr>
          <a:xfrm>
            <a:off x="6492240" y="1508760"/>
            <a:ext cx="5150815" cy="4617720"/>
          </a:xfrm>
          <a:prstGeom prst="roundRect">
            <a:avLst>
              <a:gd name="adj" fmla="val 1584"/>
            </a:avLst>
          </a:prstGeom>
          <a:solidFill>
            <a:schemeClr val="bg2"/>
          </a:solidFill>
          <a:ln/>
        </p:spPr>
      </p:sp>
      <p:sp>
        <p:nvSpPr>
          <p:cNvPr id="18" name="Baseline tag"/>
          <p:cNvSpPr/>
          <p:nvPr/>
        </p:nvSpPr>
        <p:spPr>
          <a:xfrm>
            <a:off x="6766560" y="1783080"/>
            <a:ext cx="2240280" cy="347472"/>
          </a:xfrm>
          <a:prstGeom prst="roundRect">
            <a:avLst>
              <a:gd name="adj" fmla="val 15789"/>
            </a:avLst>
          </a:prstGeom>
          <a:solidFill>
            <a:schemeClr val="tx1"/>
          </a:solidFill>
          <a:ln/>
        </p:spPr>
      </p:sp>
      <p:sp>
        <p:nvSpPr>
          <p:cNvPr id="19" name="Baseline tag text"/>
          <p:cNvSpPr txBox="1"/>
          <p:nvPr/>
        </p:nvSpPr>
        <p:spPr>
          <a:xfrm>
            <a:off x="6766560" y="1783080"/>
            <a:ext cx="2240280" cy="347472"/>
          </a:xfrm>
          <a:prstGeom prst="rect">
            <a:avLst/>
          </a:prstGeom>
          <a:noFill/>
          <a:ln/>
        </p:spPr>
        <p:txBody>
          <a:bodyPr wrap="square" lIns="0" tIns="0" rIns="0" bIns="0" rtlCol="0" anchor="ctr"/>
          <a:lstStyle/>
          <a:p>
            <a:pPr algn="ctr" indent="0" marL="0">
              <a:buNone/>
            </a:pPr>
            <a:r>
              <a:rPr lang="en-US" sz="1200" b="1" spc="100" kern="0" dirty="0">
                <a:solidFill>
                  <a:schemeClr val="bg1"/>
                </a:solidFill>
              </a:rPr>
              <a:t>PUBLISHED BASELINE</a:t>
            </a:r>
            <a:endParaRPr lang="en-US" sz="1200" dirty="0"/>
          </a:p>
        </p:txBody>
      </p:sp>
      <p:sp>
        <p:nvSpPr>
          <p:cNvPr id="20" name="Citation"/>
          <p:cNvSpPr txBox="1"/>
          <p:nvPr/>
        </p:nvSpPr>
        <p:spPr>
          <a:xfrm>
            <a:off x="6766560" y="2286000"/>
            <a:ext cx="4602175" cy="274320"/>
          </a:xfrm>
          <a:prstGeom prst="rect">
            <a:avLst/>
          </a:prstGeom>
          <a:noFill/>
          <a:ln/>
        </p:spPr>
        <p:txBody>
          <a:bodyPr wrap="square" lIns="0" tIns="0" rIns="0" bIns="0" rtlCol="0" anchor="t"/>
          <a:lstStyle/>
          <a:p>
            <a:pPr indent="0" marL="0">
              <a:buNone/>
            </a:pPr>
            <a:r>
              <a:rPr lang="en-US" sz="1200" i="1" dirty="0">
                <a:solidFill>
                  <a:schemeClr val="tx2"/>
                </a:solidFill>
              </a:rPr>
              <a:t>Söyleyici &amp; Ünver, Eng. Appl. Artif. Intell. 141 (2025) 109804</a:t>
            </a:r>
            <a:endParaRPr lang="en-US" sz="1200" dirty="0"/>
          </a:p>
        </p:txBody>
      </p:sp>
      <p:sp>
        <p:nvSpPr>
          <p:cNvPr id="21" name="Method bullets"/>
          <p:cNvSpPr txBox="1"/>
          <p:nvPr/>
        </p:nvSpPr>
        <p:spPr>
          <a:xfrm>
            <a:off x="6766560" y="2697480"/>
            <a:ext cx="4602175"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6 × 200 tanh network</a:t>
            </a:r>
            <a:endParaRPr lang="en-US" sz="1500" dirty="0"/>
          </a:p>
          <a:p>
            <a:pPr marL="342900" indent="-342900">
              <a:spcAft>
                <a:spcPts val="400"/>
              </a:spcAft>
              <a:buSzPct val="100000"/>
              <a:buChar char="•"/>
            </a:pPr>
            <a:r>
              <a:rPr lang="en-US" sz="1500" dirty="0">
                <a:solidFill>
                  <a:schemeClr val="tx1"/>
                </a:solidFill>
              </a:rPr>
              <a:t>Spatio-temporal multiscale Fourier features (σ_x = 1; σ_t = 10, 1)</a:t>
            </a:r>
            <a:endParaRPr lang="en-US" sz="1500" dirty="0"/>
          </a:p>
          <a:p>
            <a:pPr marL="342900" indent="-342900">
              <a:spcAft>
                <a:spcPts val="400"/>
              </a:spcAft>
              <a:buSzPct val="100000"/>
              <a:buChar char="•"/>
            </a:pPr>
            <a:r>
              <a:rPr lang="en-US" sz="1500" dirty="0">
                <a:solidFill>
                  <a:schemeClr val="tx1"/>
                </a:solidFill>
              </a:rPr>
              <a:t>NTK-trace loss weighting</a:t>
            </a:r>
            <a:endParaRPr lang="en-US" sz="1500" dirty="0"/>
          </a:p>
          <a:p>
            <a:pPr marL="342900" indent="-342900">
              <a:spcAft>
                <a:spcPts val="400"/>
              </a:spcAft>
              <a:buSzPct val="100000"/>
              <a:buChar char="•"/>
            </a:pPr>
            <a:r>
              <a:rPr lang="en-US" sz="1500" dirty="0">
                <a:solidFill>
                  <a:schemeClr val="tx1"/>
                </a:solidFill>
              </a:rPr>
              <a:t>Adam, lr 1e-4, 45 000 epochs</a:t>
            </a:r>
            <a:endParaRPr lang="en-US" sz="1500" dirty="0"/>
          </a:p>
        </p:txBody>
      </p:sp>
      <p:sp>
        <p:nvSpPr>
          <p:cNvPr id="22" name="Paper L2 value"/>
          <p:cNvSpPr txBox="1"/>
          <p:nvPr/>
        </p:nvSpPr>
        <p:spPr>
          <a:xfrm>
            <a:off x="6766560" y="4206240"/>
            <a:ext cx="4602175"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4.64 × 10⁻⁴</a:t>
            </a:r>
            <a:endParaRPr lang="en-US" sz="4000" dirty="0"/>
          </a:p>
        </p:txBody>
      </p:sp>
      <p:sp>
        <p:nvSpPr>
          <p:cNvPr id="23" name="Paper L2 label"/>
          <p:cNvSpPr txBox="1"/>
          <p:nvPr/>
        </p:nvSpPr>
        <p:spPr>
          <a:xfrm>
            <a:off x="6766560" y="4892040"/>
            <a:ext cx="4602175" cy="548640"/>
          </a:xfrm>
          <a:prstGeom prst="rect">
            <a:avLst/>
          </a:prstGeom>
          <a:noFill/>
          <a:ln/>
        </p:spPr>
        <p:txBody>
          <a:bodyPr wrap="square" lIns="0" tIns="0" rIns="0" bIns="0" rtlCol="0" anchor="t"/>
          <a:lstStyle/>
          <a:p>
            <a:pPr indent="0" marL="0">
              <a:buNone/>
            </a:pPr>
            <a:r>
              <a:rPr lang="en-US" sz="1200" dirty="0">
                <a:solidFill>
                  <a:schemeClr val="tx2"/>
                </a:solidFill>
              </a:rPr>
              <a:t>Relative L2 error reported by the paper for this case (FE-D-M1, Mode 1). Published value — not a result of this study.</a:t>
            </a:r>
            <a:endParaRPr lang="en-US" sz="1200" dirty="0"/>
          </a:p>
        </p:txBody>
      </p:sp>
      <p:sp>
        <p:nvSpPr>
          <p:cNvPr id="24" name="Attribution note"/>
          <p:cNvSpPr txBox="1"/>
          <p:nvPr/>
        </p:nvSpPr>
        <p:spPr>
          <a:xfrm>
            <a:off x="6766560" y="5486400"/>
            <a:ext cx="4602175" cy="502920"/>
          </a:xfrm>
          <a:prstGeom prst="rect">
            <a:avLst/>
          </a:prstGeom>
          <a:noFill/>
          <a:ln/>
        </p:spPr>
        <p:txBody>
          <a:bodyPr wrap="square" lIns="0" tIns="0" rIns="0" bIns="0" rtlCol="0" anchor="t"/>
          <a:lstStyle/>
          <a:p>
            <a:pPr indent="0" marL="0">
              <a:buNone/>
            </a:pPr>
            <a:r>
              <a:rPr lang="en-US" sz="1300" b="1" dirty="0">
                <a:solidFill>
                  <a:schemeClr val="accent4"/>
                </a:solidFill>
              </a:rPr>
              <a:t>Fourier + NTK is the paper's method, not our contribution. Our work audits and stress-tests it.</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REPRODUCIBILITY AUDIT</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controlled, one-change-at-a-time workflow</a:t>
            </a:r>
            <a:endParaRPr lang="en-US" sz="3200" dirty="0"/>
          </a:p>
        </p:txBody>
      </p:sp>
      <p:sp>
        <p:nvSpPr>
          <p:cNvPr id="4" name="Step 1 card"/>
          <p:cNvSpPr/>
          <p:nvPr/>
        </p:nvSpPr>
        <p:spPr>
          <a:xfrm>
            <a:off x="548640" y="1600200"/>
            <a:ext cx="1290790" cy="1143000"/>
          </a:xfrm>
          <a:prstGeom prst="roundRect">
            <a:avLst>
              <a:gd name="adj" fmla="val 6400"/>
            </a:avLst>
          </a:prstGeom>
          <a:solidFill>
            <a:schemeClr val="tx1"/>
          </a:solidFill>
          <a:ln/>
        </p:spPr>
      </p:sp>
      <p:sp>
        <p:nvSpPr>
          <p:cNvPr id="5" name="Step 1 number"/>
          <p:cNvSpPr txBox="1"/>
          <p:nvPr/>
        </p:nvSpPr>
        <p:spPr>
          <a:xfrm>
            <a:off x="685800" y="170992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1</a:t>
            </a:r>
            <a:endParaRPr lang="en-US" sz="1800" dirty="0"/>
          </a:p>
        </p:txBody>
      </p:sp>
      <p:sp>
        <p:nvSpPr>
          <p:cNvPr id="6" name="Step 1 label"/>
          <p:cNvSpPr txBox="1"/>
          <p:nvPr/>
        </p:nvSpPr>
        <p:spPr>
          <a:xfrm>
            <a:off x="658368" y="2075688"/>
            <a:ext cx="1144486" cy="594360"/>
          </a:xfrm>
          <a:prstGeom prst="rect">
            <a:avLst/>
          </a:prstGeom>
          <a:noFill/>
          <a:ln/>
        </p:spPr>
        <p:txBody>
          <a:bodyPr wrap="square" lIns="0" tIns="0" rIns="0" bIns="0" rtlCol="0" anchor="t"/>
          <a:lstStyle/>
          <a:p>
            <a:pPr indent="0" marL="0">
              <a:buNone/>
            </a:pPr>
            <a:r>
              <a:rPr lang="en-US" sz="1200" b="1" dirty="0">
                <a:solidFill>
                  <a:schemeClr val="bg1"/>
                </a:solidFill>
              </a:rPr>
              <a:t>Published method</a:t>
            </a:r>
            <a:endParaRPr lang="en-US" sz="1200" dirty="0"/>
          </a:p>
        </p:txBody>
      </p:sp>
      <p:sp>
        <p:nvSpPr>
          <p:cNvPr id="7" name="Step 2 card"/>
          <p:cNvSpPr/>
          <p:nvPr/>
        </p:nvSpPr>
        <p:spPr>
          <a:xfrm>
            <a:off x="1949158" y="1600200"/>
            <a:ext cx="1290790" cy="1143000"/>
          </a:xfrm>
          <a:prstGeom prst="roundRect">
            <a:avLst>
              <a:gd name="adj" fmla="val 6400"/>
            </a:avLst>
          </a:prstGeom>
          <a:solidFill>
            <a:schemeClr val="bg2"/>
          </a:solidFill>
          <a:ln/>
        </p:spPr>
      </p:sp>
      <p:sp>
        <p:nvSpPr>
          <p:cNvPr id="8" name="Step 2 number"/>
          <p:cNvSpPr txBox="1"/>
          <p:nvPr/>
        </p:nvSpPr>
        <p:spPr>
          <a:xfrm>
            <a:off x="2086318" y="170992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2</a:t>
            </a:r>
            <a:endParaRPr lang="en-US" sz="1800" dirty="0"/>
          </a:p>
        </p:txBody>
      </p:sp>
      <p:sp>
        <p:nvSpPr>
          <p:cNvPr id="9" name="Step 2 label"/>
          <p:cNvSpPr txBox="1"/>
          <p:nvPr/>
        </p:nvSpPr>
        <p:spPr>
          <a:xfrm>
            <a:off x="2058886" y="2075688"/>
            <a:ext cx="1144486" cy="594360"/>
          </a:xfrm>
          <a:prstGeom prst="rect">
            <a:avLst/>
          </a:prstGeom>
          <a:noFill/>
          <a:ln/>
        </p:spPr>
        <p:txBody>
          <a:bodyPr wrap="square" lIns="0" tIns="0" rIns="0" bIns="0" rtlCol="0" anchor="t"/>
          <a:lstStyle/>
          <a:p>
            <a:pPr indent="0" marL="0">
              <a:buNone/>
            </a:pPr>
            <a:r>
              <a:rPr lang="en-US" sz="1200" b="1" dirty="0">
                <a:solidFill>
                  <a:schemeClr val="tx1"/>
                </a:solidFill>
              </a:rPr>
              <a:t>Implementation audit</a:t>
            </a:r>
            <a:endParaRPr lang="en-US" sz="1200" dirty="0"/>
          </a:p>
        </p:txBody>
      </p:sp>
      <p:sp>
        <p:nvSpPr>
          <p:cNvPr id="10" name="Step 3 card"/>
          <p:cNvSpPr/>
          <p:nvPr/>
        </p:nvSpPr>
        <p:spPr>
          <a:xfrm>
            <a:off x="3349676" y="1600200"/>
            <a:ext cx="1290790" cy="1143000"/>
          </a:xfrm>
          <a:prstGeom prst="roundRect">
            <a:avLst>
              <a:gd name="adj" fmla="val 6400"/>
            </a:avLst>
          </a:prstGeom>
          <a:solidFill>
            <a:schemeClr val="bg2"/>
          </a:solidFill>
          <a:ln/>
        </p:spPr>
      </p:sp>
      <p:sp>
        <p:nvSpPr>
          <p:cNvPr id="11" name="Step 3 number"/>
          <p:cNvSpPr txBox="1"/>
          <p:nvPr/>
        </p:nvSpPr>
        <p:spPr>
          <a:xfrm>
            <a:off x="3486836" y="170992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3</a:t>
            </a:r>
            <a:endParaRPr lang="en-US" sz="1800" dirty="0"/>
          </a:p>
        </p:txBody>
      </p:sp>
      <p:sp>
        <p:nvSpPr>
          <p:cNvPr id="12" name="Step 3 label"/>
          <p:cNvSpPr txBox="1"/>
          <p:nvPr/>
        </p:nvSpPr>
        <p:spPr>
          <a:xfrm>
            <a:off x="3459404" y="2075688"/>
            <a:ext cx="1144486" cy="594360"/>
          </a:xfrm>
          <a:prstGeom prst="rect">
            <a:avLst/>
          </a:prstGeom>
          <a:noFill/>
          <a:ln/>
        </p:spPr>
        <p:txBody>
          <a:bodyPr wrap="square" lIns="0" tIns="0" rIns="0" bIns="0" rtlCol="0" anchor="t"/>
          <a:lstStyle/>
          <a:p>
            <a:pPr indent="0" marL="0">
              <a:buNone/>
            </a:pPr>
            <a:r>
              <a:rPr lang="en-US" sz="1200" b="1" dirty="0">
                <a:solidFill>
                  <a:schemeClr val="tx1"/>
                </a:solidFill>
              </a:rPr>
              <a:t>Paper-faithful baseline</a:t>
            </a:r>
            <a:endParaRPr lang="en-US" sz="1200" dirty="0"/>
          </a:p>
        </p:txBody>
      </p:sp>
      <p:sp>
        <p:nvSpPr>
          <p:cNvPr id="13" name="Step 4 card"/>
          <p:cNvSpPr/>
          <p:nvPr/>
        </p:nvSpPr>
        <p:spPr>
          <a:xfrm>
            <a:off x="4750194" y="1600200"/>
            <a:ext cx="1290790" cy="1143000"/>
          </a:xfrm>
          <a:prstGeom prst="roundRect">
            <a:avLst>
              <a:gd name="adj" fmla="val 6400"/>
            </a:avLst>
          </a:prstGeom>
          <a:solidFill>
            <a:schemeClr val="bg2"/>
          </a:solidFill>
          <a:ln/>
        </p:spPr>
      </p:sp>
      <p:sp>
        <p:nvSpPr>
          <p:cNvPr id="14" name="Step 4 number"/>
          <p:cNvSpPr txBox="1"/>
          <p:nvPr/>
        </p:nvSpPr>
        <p:spPr>
          <a:xfrm>
            <a:off x="4887354" y="170992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4</a:t>
            </a:r>
            <a:endParaRPr lang="en-US" sz="1800" dirty="0"/>
          </a:p>
        </p:txBody>
      </p:sp>
      <p:sp>
        <p:nvSpPr>
          <p:cNvPr id="15" name="Step 4 label"/>
          <p:cNvSpPr txBox="1"/>
          <p:nvPr/>
        </p:nvSpPr>
        <p:spPr>
          <a:xfrm>
            <a:off x="4859922" y="2075688"/>
            <a:ext cx="1144486" cy="594360"/>
          </a:xfrm>
          <a:prstGeom prst="rect">
            <a:avLst/>
          </a:prstGeom>
          <a:noFill/>
          <a:ln/>
        </p:spPr>
        <p:txBody>
          <a:bodyPr wrap="square" lIns="0" tIns="0" rIns="0" bIns="0" rtlCol="0" anchor="t"/>
          <a:lstStyle/>
          <a:p>
            <a:pPr indent="0" marL="0">
              <a:buNone/>
            </a:pPr>
            <a:r>
              <a:rPr lang="en-US" sz="1200" b="1" dirty="0">
                <a:solidFill>
                  <a:schemeClr val="tx1"/>
                </a:solidFill>
              </a:rPr>
              <a:t>Diagnostic variants</a:t>
            </a:r>
            <a:endParaRPr lang="en-US" sz="1200" dirty="0"/>
          </a:p>
        </p:txBody>
      </p:sp>
      <p:sp>
        <p:nvSpPr>
          <p:cNvPr id="16" name="Step 5 card"/>
          <p:cNvSpPr/>
          <p:nvPr/>
        </p:nvSpPr>
        <p:spPr>
          <a:xfrm>
            <a:off x="6150712" y="1600200"/>
            <a:ext cx="1290790" cy="1143000"/>
          </a:xfrm>
          <a:prstGeom prst="roundRect">
            <a:avLst>
              <a:gd name="adj" fmla="val 6400"/>
            </a:avLst>
          </a:prstGeom>
          <a:solidFill>
            <a:schemeClr val="bg2"/>
          </a:solidFill>
          <a:ln/>
        </p:spPr>
      </p:sp>
      <p:sp>
        <p:nvSpPr>
          <p:cNvPr id="17" name="Step 5 number"/>
          <p:cNvSpPr txBox="1"/>
          <p:nvPr/>
        </p:nvSpPr>
        <p:spPr>
          <a:xfrm>
            <a:off x="6287872" y="170992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5</a:t>
            </a:r>
            <a:endParaRPr lang="en-US" sz="1800" dirty="0"/>
          </a:p>
        </p:txBody>
      </p:sp>
      <p:sp>
        <p:nvSpPr>
          <p:cNvPr id="18" name="Step 5 label"/>
          <p:cNvSpPr txBox="1"/>
          <p:nvPr/>
        </p:nvSpPr>
        <p:spPr>
          <a:xfrm>
            <a:off x="6260440" y="2075688"/>
            <a:ext cx="1144486" cy="594360"/>
          </a:xfrm>
          <a:prstGeom prst="rect">
            <a:avLst/>
          </a:prstGeom>
          <a:noFill/>
          <a:ln/>
        </p:spPr>
        <p:txBody>
          <a:bodyPr wrap="square" lIns="0" tIns="0" rIns="0" bIns="0" rtlCol="0" anchor="t"/>
          <a:lstStyle/>
          <a:p>
            <a:pPr indent="0" marL="0">
              <a:buNone/>
            </a:pPr>
            <a:r>
              <a:rPr lang="en-US" sz="1200" b="1" dirty="0">
                <a:solidFill>
                  <a:schemeClr val="tx1"/>
                </a:solidFill>
              </a:rPr>
              <a:t>Conditioning experiment</a:t>
            </a:r>
            <a:endParaRPr lang="en-US" sz="1200" dirty="0"/>
          </a:p>
        </p:txBody>
      </p:sp>
      <p:sp>
        <p:nvSpPr>
          <p:cNvPr id="19" name="Step 6 card"/>
          <p:cNvSpPr/>
          <p:nvPr/>
        </p:nvSpPr>
        <p:spPr>
          <a:xfrm>
            <a:off x="7551230" y="1600200"/>
            <a:ext cx="1290790" cy="1143000"/>
          </a:xfrm>
          <a:prstGeom prst="roundRect">
            <a:avLst>
              <a:gd name="adj" fmla="val 6400"/>
            </a:avLst>
          </a:prstGeom>
          <a:solidFill>
            <a:schemeClr val="bg2"/>
          </a:solidFill>
          <a:ln/>
        </p:spPr>
      </p:sp>
      <p:sp>
        <p:nvSpPr>
          <p:cNvPr id="20" name="Step 6 number"/>
          <p:cNvSpPr txBox="1"/>
          <p:nvPr/>
        </p:nvSpPr>
        <p:spPr>
          <a:xfrm>
            <a:off x="7688390" y="170992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6</a:t>
            </a:r>
            <a:endParaRPr lang="en-US" sz="1800" dirty="0"/>
          </a:p>
        </p:txBody>
      </p:sp>
      <p:sp>
        <p:nvSpPr>
          <p:cNvPr id="21" name="Step 6 label"/>
          <p:cNvSpPr txBox="1"/>
          <p:nvPr/>
        </p:nvSpPr>
        <p:spPr>
          <a:xfrm>
            <a:off x="7660957" y="2075688"/>
            <a:ext cx="1144486" cy="594360"/>
          </a:xfrm>
          <a:prstGeom prst="rect">
            <a:avLst/>
          </a:prstGeom>
          <a:noFill/>
          <a:ln/>
        </p:spPr>
        <p:txBody>
          <a:bodyPr wrap="square" lIns="0" tIns="0" rIns="0" bIns="0" rtlCol="0" anchor="t"/>
          <a:lstStyle/>
          <a:p>
            <a:pPr indent="0" marL="0">
              <a:buNone/>
            </a:pPr>
            <a:r>
              <a:rPr lang="en-US" sz="1200" b="1" dirty="0">
                <a:solidFill>
                  <a:schemeClr val="tx1"/>
                </a:solidFill>
              </a:rPr>
              <a:t>Optimizer experiment</a:t>
            </a:r>
            <a:endParaRPr lang="en-US" sz="1200" dirty="0"/>
          </a:p>
        </p:txBody>
      </p:sp>
      <p:sp>
        <p:nvSpPr>
          <p:cNvPr id="22" name="Step 7 card"/>
          <p:cNvSpPr/>
          <p:nvPr/>
        </p:nvSpPr>
        <p:spPr>
          <a:xfrm>
            <a:off x="8951747" y="1600200"/>
            <a:ext cx="1290790" cy="1143000"/>
          </a:xfrm>
          <a:prstGeom prst="roundRect">
            <a:avLst>
              <a:gd name="adj" fmla="val 6400"/>
            </a:avLst>
          </a:prstGeom>
          <a:solidFill>
            <a:schemeClr val="bg2"/>
          </a:solidFill>
          <a:ln/>
        </p:spPr>
      </p:sp>
      <p:sp>
        <p:nvSpPr>
          <p:cNvPr id="23" name="Step 7 number"/>
          <p:cNvSpPr txBox="1"/>
          <p:nvPr/>
        </p:nvSpPr>
        <p:spPr>
          <a:xfrm>
            <a:off x="9088907" y="170992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7</a:t>
            </a:r>
            <a:endParaRPr lang="en-US" sz="1800" dirty="0"/>
          </a:p>
        </p:txBody>
      </p:sp>
      <p:sp>
        <p:nvSpPr>
          <p:cNvPr id="24" name="Step 7 label"/>
          <p:cNvSpPr txBox="1"/>
          <p:nvPr/>
        </p:nvSpPr>
        <p:spPr>
          <a:xfrm>
            <a:off x="9061475" y="2075688"/>
            <a:ext cx="1144486" cy="594360"/>
          </a:xfrm>
          <a:prstGeom prst="rect">
            <a:avLst/>
          </a:prstGeom>
          <a:noFill/>
          <a:ln/>
        </p:spPr>
        <p:txBody>
          <a:bodyPr wrap="square" lIns="0" tIns="0" rIns="0" bIns="0" rtlCol="0" anchor="t"/>
          <a:lstStyle/>
          <a:p>
            <a:pPr indent="0" marL="0">
              <a:buNone/>
            </a:pPr>
            <a:r>
              <a:rPr lang="en-US" sz="1200" b="1" dirty="0">
                <a:solidFill>
                  <a:schemeClr val="tx1"/>
                </a:solidFill>
              </a:rPr>
              <a:t>Sampling / batch experiment</a:t>
            </a:r>
            <a:endParaRPr lang="en-US" sz="1200" dirty="0"/>
          </a:p>
        </p:txBody>
      </p:sp>
      <p:sp>
        <p:nvSpPr>
          <p:cNvPr id="25" name="Step 8 card"/>
          <p:cNvSpPr/>
          <p:nvPr/>
        </p:nvSpPr>
        <p:spPr>
          <a:xfrm>
            <a:off x="10352265" y="1600200"/>
            <a:ext cx="1290790" cy="1143000"/>
          </a:xfrm>
          <a:prstGeom prst="roundRect">
            <a:avLst>
              <a:gd name="adj" fmla="val 6400"/>
            </a:avLst>
          </a:prstGeom>
          <a:solidFill>
            <a:schemeClr val="bg2"/>
          </a:solidFill>
          <a:ln/>
        </p:spPr>
      </p:sp>
      <p:sp>
        <p:nvSpPr>
          <p:cNvPr id="26" name="Step 8 number"/>
          <p:cNvSpPr txBox="1"/>
          <p:nvPr/>
        </p:nvSpPr>
        <p:spPr>
          <a:xfrm>
            <a:off x="10489425" y="170992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8</a:t>
            </a:r>
            <a:endParaRPr lang="en-US" sz="1800" dirty="0"/>
          </a:p>
        </p:txBody>
      </p:sp>
      <p:sp>
        <p:nvSpPr>
          <p:cNvPr id="27" name="Step 8 label"/>
          <p:cNvSpPr txBox="1"/>
          <p:nvPr/>
        </p:nvSpPr>
        <p:spPr>
          <a:xfrm>
            <a:off x="10461993" y="2075688"/>
            <a:ext cx="1144486" cy="594360"/>
          </a:xfrm>
          <a:prstGeom prst="rect">
            <a:avLst/>
          </a:prstGeom>
          <a:noFill/>
          <a:ln/>
        </p:spPr>
        <p:txBody>
          <a:bodyPr wrap="square" lIns="0" tIns="0" rIns="0" bIns="0" rtlCol="0" anchor="t"/>
          <a:lstStyle/>
          <a:p>
            <a:pPr indent="0" marL="0">
              <a:buNone/>
            </a:pPr>
            <a:r>
              <a:rPr lang="en-US" sz="1200" b="1" dirty="0">
                <a:solidFill>
                  <a:schemeClr val="tx1"/>
                </a:solidFill>
              </a:rPr>
              <a:t>Compute-budget study</a:t>
            </a:r>
            <a:endParaRPr lang="en-US" sz="1200" dirty="0"/>
          </a:p>
        </p:txBody>
      </p:sp>
      <p:sp>
        <p:nvSpPr>
          <p:cNvPr id="28" name="Workflow caption"/>
          <p:cNvSpPr txBox="1"/>
          <p:nvPr/>
        </p:nvSpPr>
        <p:spPr>
          <a:xfrm>
            <a:off x="548640" y="2880360"/>
            <a:ext cx="11094415" cy="320040"/>
          </a:xfrm>
          <a:prstGeom prst="rect">
            <a:avLst/>
          </a:prstGeom>
          <a:noFill/>
          <a:ln/>
        </p:spPr>
        <p:txBody>
          <a:bodyPr wrap="square" lIns="0" tIns="0" rIns="0" bIns="0" rtlCol="0" anchor="t"/>
          <a:lstStyle/>
          <a:p>
            <a:pPr indent="0" marL="0">
              <a:buNone/>
            </a:pPr>
            <a:r>
              <a:rPr lang="en-US" sz="1200" dirty="0">
                <a:solidFill>
                  <a:schemeClr val="tx2"/>
                </a:solidFill>
              </a:rPr>
              <a:t>Each step changed one factor relative to its parent run; every run used one CPU thread, seed 1234, float32 and an identical evaluation grid (201 × 2001).</a:t>
            </a:r>
            <a:endParaRPr lang="en-US" sz="1200" dirty="0"/>
          </a:p>
        </p:txBody>
      </p:sp>
      <p:sp>
        <p:nvSpPr>
          <p:cNvPr id="29" name="Findings heading"/>
          <p:cNvSpPr txBox="1"/>
          <p:nvPr/>
        </p:nvSpPr>
        <p:spPr>
          <a:xfrm>
            <a:off x="548640" y="3429000"/>
            <a:ext cx="11094415"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Verified audit findings</a:t>
            </a:r>
            <a:endParaRPr lang="en-US" sz="2000" dirty="0"/>
          </a:p>
        </p:txBody>
      </p:sp>
      <p:sp>
        <p:nvSpPr>
          <p:cNvPr id="30" name="Finding 1 badge"/>
          <p:cNvSpPr/>
          <p:nvPr/>
        </p:nvSpPr>
        <p:spPr>
          <a:xfrm>
            <a:off x="548640" y="3968496"/>
            <a:ext cx="384048" cy="384048"/>
          </a:xfrm>
          <a:prstGeom prst="ellipse">
            <a:avLst/>
          </a:prstGeom>
          <a:solidFill>
            <a:schemeClr val="tx2"/>
          </a:solidFill>
          <a:ln/>
        </p:spPr>
      </p:sp>
      <p:sp>
        <p:nvSpPr>
          <p:cNvPr id="31" name="Finding 1 badge number"/>
          <p:cNvSpPr txBox="1"/>
          <p:nvPr/>
        </p:nvSpPr>
        <p:spPr>
          <a:xfrm>
            <a:off x="548640" y="39684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2" name="Finding 1"/>
          <p:cNvSpPr txBox="1"/>
          <p:nvPr/>
        </p:nvSpPr>
        <p:spPr>
          <a:xfrm>
            <a:off x="1097280" y="3931920"/>
            <a:ext cx="4861408" cy="685800"/>
          </a:xfrm>
          <a:prstGeom prst="rect">
            <a:avLst/>
          </a:prstGeom>
          <a:noFill/>
          <a:ln/>
        </p:spPr>
        <p:txBody>
          <a:bodyPr wrap="square" lIns="0" tIns="0" rIns="0" bIns="0" rtlCol="0" anchor="t"/>
          <a:lstStyle/>
          <a:p>
            <a:pPr indent="0" marL="0">
              <a:buNone/>
            </a:pPr>
            <a:r>
              <a:rPr lang="en-US" sz="1400" b="1" dirty="0">
                <a:solidFill>
                  <a:schemeClr val="tx1"/>
                </a:solidFill>
              </a:rPr>
              <a:t>Fourier convention</a:t>
            </a:r>
            <a:endParaRPr lang="en-US" sz="1400" dirty="0"/>
          </a:p>
          <a:p>
            <a:pPr indent="0" marL="0">
              <a:buNone/>
            </a:pPr>
            <a:r>
              <a:rPr lang="en-US" sz="1200" dirty="0">
                <a:solidFill>
                  <a:schemeClr val="tx2"/>
                </a:solidFill>
              </a:rPr>
              <a:t>Legacy code omitted the 2π factor of paper Eq. 38–39.</a:t>
            </a:r>
            <a:endParaRPr lang="en-US" sz="1400" dirty="0"/>
          </a:p>
        </p:txBody>
      </p:sp>
      <p:sp>
        <p:nvSpPr>
          <p:cNvPr id="33" name="Finding 2 badge"/>
          <p:cNvSpPr/>
          <p:nvPr/>
        </p:nvSpPr>
        <p:spPr>
          <a:xfrm>
            <a:off x="548640" y="4718304"/>
            <a:ext cx="384048" cy="384048"/>
          </a:xfrm>
          <a:prstGeom prst="ellipse">
            <a:avLst/>
          </a:prstGeom>
          <a:solidFill>
            <a:schemeClr val="tx2"/>
          </a:solidFill>
          <a:ln/>
        </p:spPr>
      </p:sp>
      <p:sp>
        <p:nvSpPr>
          <p:cNvPr id="34" name="Finding 2 badge number"/>
          <p:cNvSpPr txBox="1"/>
          <p:nvPr/>
        </p:nvSpPr>
        <p:spPr>
          <a:xfrm>
            <a:off x="548640" y="47183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5" name="Finding 2"/>
          <p:cNvSpPr txBox="1"/>
          <p:nvPr/>
        </p:nvSpPr>
        <p:spPr>
          <a:xfrm>
            <a:off x="1097280" y="4681728"/>
            <a:ext cx="4861408" cy="685800"/>
          </a:xfrm>
          <a:prstGeom prst="rect">
            <a:avLst/>
          </a:prstGeom>
          <a:noFill/>
          <a:ln/>
        </p:spPr>
        <p:txBody>
          <a:bodyPr wrap="square" lIns="0" tIns="0" rIns="0" bIns="0" rtlCol="0" anchor="t"/>
          <a:lstStyle/>
          <a:p>
            <a:pPr indent="0" marL="0">
              <a:buNone/>
            </a:pPr>
            <a:r>
              <a:rPr lang="en-US" sz="1400" b="1" dirty="0">
                <a:solidFill>
                  <a:schemeClr val="tx1"/>
                </a:solidFill>
              </a:rPr>
              <a:t>Frequency metric</a:t>
            </a:r>
            <a:endParaRPr lang="en-US" sz="1400" dirty="0"/>
          </a:p>
          <a:p>
            <a:pPr indent="0" marL="0">
              <a:buNone/>
            </a:pPr>
            <a:r>
              <a:rPr lang="en-US" sz="1200" dirty="0">
                <a:solidFill>
                  <a:schemeClr val="tx2"/>
                </a:solidFill>
              </a:rPr>
              <a:t>Legacy metric used f = mode² and 1 Hz FFT bins; replaced by a damped-cosine fit.</a:t>
            </a:r>
            <a:endParaRPr lang="en-US" sz="1400" dirty="0"/>
          </a:p>
        </p:txBody>
      </p:sp>
      <p:sp>
        <p:nvSpPr>
          <p:cNvPr id="36" name="Finding 3 badge"/>
          <p:cNvSpPr/>
          <p:nvPr/>
        </p:nvSpPr>
        <p:spPr>
          <a:xfrm>
            <a:off x="548640" y="5468112"/>
            <a:ext cx="384048" cy="384048"/>
          </a:xfrm>
          <a:prstGeom prst="ellipse">
            <a:avLst/>
          </a:prstGeom>
          <a:solidFill>
            <a:schemeClr val="tx2"/>
          </a:solidFill>
          <a:ln/>
        </p:spPr>
      </p:sp>
      <p:sp>
        <p:nvSpPr>
          <p:cNvPr id="37" name="Finding 3 badge number"/>
          <p:cNvSpPr txBox="1"/>
          <p:nvPr/>
        </p:nvSpPr>
        <p:spPr>
          <a:xfrm>
            <a:off x="548640" y="54681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8" name="Finding 3"/>
          <p:cNvSpPr txBox="1"/>
          <p:nvPr/>
        </p:nvSpPr>
        <p:spPr>
          <a:xfrm>
            <a:off x="1097280" y="5431536"/>
            <a:ext cx="4861408" cy="685800"/>
          </a:xfrm>
          <a:prstGeom prst="rect">
            <a:avLst/>
          </a:prstGeom>
          <a:noFill/>
          <a:ln/>
        </p:spPr>
        <p:txBody>
          <a:bodyPr wrap="square" lIns="0" tIns="0" rIns="0" bIns="0" rtlCol="0" anchor="t"/>
          <a:lstStyle/>
          <a:p>
            <a:pPr indent="0" marL="0">
              <a:buNone/>
            </a:pPr>
            <a:r>
              <a:rPr lang="en-US" sz="1400" b="1" dirty="0">
                <a:solidFill>
                  <a:schemeClr val="tx1"/>
                </a:solidFill>
              </a:rPr>
              <a:t>Sparse evaluation</a:t>
            </a:r>
            <a:endParaRPr lang="en-US" sz="1400" dirty="0"/>
          </a:p>
          <a:p>
            <a:pPr indent="0" marL="0">
              <a:buNone/>
            </a:pPr>
            <a:r>
              <a:rPr lang="en-US" sz="1200" dirty="0">
                <a:solidFill>
                  <a:schemeClr val="tx2"/>
                </a:solidFill>
              </a:rPr>
              <a:t>An 81 × 81 grid under-resolves 20.6 cycles; replaced by 201 × 2001.</a:t>
            </a:r>
            <a:endParaRPr lang="en-US" sz="1400" dirty="0"/>
          </a:p>
        </p:txBody>
      </p:sp>
      <p:sp>
        <p:nvSpPr>
          <p:cNvPr id="39" name="Finding 4 badge"/>
          <p:cNvSpPr/>
          <p:nvPr/>
        </p:nvSpPr>
        <p:spPr>
          <a:xfrm>
            <a:off x="6233008" y="3968496"/>
            <a:ext cx="384048" cy="384048"/>
          </a:xfrm>
          <a:prstGeom prst="ellipse">
            <a:avLst/>
          </a:prstGeom>
          <a:solidFill>
            <a:schemeClr val="tx2"/>
          </a:solidFill>
          <a:ln/>
        </p:spPr>
      </p:sp>
      <p:sp>
        <p:nvSpPr>
          <p:cNvPr id="40" name="Finding 4 badge number"/>
          <p:cNvSpPr txBox="1"/>
          <p:nvPr/>
        </p:nvSpPr>
        <p:spPr>
          <a:xfrm>
            <a:off x="6233008" y="39684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1" name="Finding 4"/>
          <p:cNvSpPr txBox="1"/>
          <p:nvPr/>
        </p:nvSpPr>
        <p:spPr>
          <a:xfrm>
            <a:off x="6781648" y="3931920"/>
            <a:ext cx="4861408" cy="685800"/>
          </a:xfrm>
          <a:prstGeom prst="rect">
            <a:avLst/>
          </a:prstGeom>
          <a:noFill/>
          <a:ln/>
        </p:spPr>
        <p:txBody>
          <a:bodyPr wrap="square" lIns="0" tIns="0" rIns="0" bIns="0" rtlCol="0" anchor="t"/>
          <a:lstStyle/>
          <a:p>
            <a:pPr indent="0" marL="0">
              <a:buNone/>
            </a:pPr>
            <a:r>
              <a:rPr lang="en-US" sz="1400" b="1" dirty="0">
                <a:solidFill>
                  <a:schemeClr val="tx1"/>
                </a:solidFill>
              </a:rPr>
              <a:t>Reference-code differences</a:t>
            </a:r>
            <a:endParaRPr lang="en-US" sz="1400" dirty="0"/>
          </a:p>
          <a:p>
            <a:pPr indent="0" marL="0">
              <a:buNone/>
            </a:pPr>
            <a:r>
              <a:rPr lang="en-US" sz="1200" dirty="0">
                <a:solidFill>
                  <a:schemeClr val="tx2"/>
                </a:solidFill>
              </a:rPr>
              <a:t>Public code uses standardised inputs, no 2π, N(0,1) biases and a decaying LR.</a:t>
            </a:r>
            <a:endParaRPr lang="en-US" sz="1400" dirty="0"/>
          </a:p>
        </p:txBody>
      </p:sp>
      <p:sp>
        <p:nvSpPr>
          <p:cNvPr id="42" name="Finding 5 badge"/>
          <p:cNvSpPr/>
          <p:nvPr/>
        </p:nvSpPr>
        <p:spPr>
          <a:xfrm>
            <a:off x="6233008" y="4718304"/>
            <a:ext cx="384048" cy="384048"/>
          </a:xfrm>
          <a:prstGeom prst="ellipse">
            <a:avLst/>
          </a:prstGeom>
          <a:solidFill>
            <a:schemeClr val="accent2"/>
          </a:solidFill>
          <a:ln/>
        </p:spPr>
      </p:sp>
      <p:sp>
        <p:nvSpPr>
          <p:cNvPr id="43" name="Finding 5 badge number"/>
          <p:cNvSpPr txBox="1"/>
          <p:nvPr/>
        </p:nvSpPr>
        <p:spPr>
          <a:xfrm>
            <a:off x="6233008" y="47183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44" name="Finding 5"/>
          <p:cNvSpPr txBox="1"/>
          <p:nvPr/>
        </p:nvSpPr>
        <p:spPr>
          <a:xfrm>
            <a:off x="6781648" y="4681728"/>
            <a:ext cx="4861408" cy="685800"/>
          </a:xfrm>
          <a:prstGeom prst="rect">
            <a:avLst/>
          </a:prstGeom>
          <a:noFill/>
          <a:ln/>
        </p:spPr>
        <p:txBody>
          <a:bodyPr wrap="square" lIns="0" tIns="0" rIns="0" bIns="0" rtlCol="0" anchor="t"/>
          <a:lstStyle/>
          <a:p>
            <a:pPr indent="0" marL="0">
              <a:buNone/>
            </a:pPr>
            <a:r>
              <a:rPr lang="en-US" sz="1400" b="1" dirty="0">
                <a:solidFill>
                  <a:schemeClr val="tx1"/>
                </a:solidFill>
              </a:rPr>
              <a:t>Two references</a:t>
            </a:r>
            <a:endParaRPr lang="en-US" sz="1400" dirty="0"/>
          </a:p>
          <a:p>
            <a:pPr indent="0" marL="0">
              <a:buNone/>
            </a:pPr>
            <a:r>
              <a:rPr lang="en-US" sz="1200" dirty="0">
                <a:solidFill>
                  <a:schemeClr val="tx2"/>
                </a:solidFill>
              </a:rPr>
              <a:t>Printed root (4.7300) vs exact root: they differ by 4.386e-4 relative L2, 94.5 % of the 4.64e-4 target.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FIRST FAILURE: PAPER-FAITHFUL FOURIER + NTK (C0)</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faithful baseline settles on a near-static field</a:t>
            </a:r>
            <a:endParaRPr lang="en-US" sz="3200" dirty="0"/>
          </a:p>
        </p:txBody>
      </p:sp>
      <p:pic>
        <p:nvPicPr>
          <p:cNvPr id="4" name="C0 mid-span trace" descr="C0 mid-span displacement vs exact, 0 to 0.15 s: PINN nearly flat at about 70 mm while the exact solution oscillates">    </p:cNvPr>
          <p:cNvPicPr>
            <a:picLocks noChangeAspect="1"/>
          </p:cNvPicPr>
          <p:nvPr/>
        </p:nvPicPr>
        <p:blipFill>
          <a:blip r:embed="rId1"/>
          <a:stretch>
            <a:fillRect/>
          </a:stretch>
        </p:blipFill>
        <p:spPr>
          <a:xfrm>
            <a:off x="548640" y="1463040"/>
            <a:ext cx="5364328" cy="3172804"/>
          </a:xfrm>
          <a:prstGeom prst="rect">
            <a:avLst/>
          </a:prstGeom>
        </p:spPr>
      </p:pic>
      <p:sp>
        <p:nvSpPr>
          <p:cNvPr id="5" name="Trace caption"/>
          <p:cNvSpPr txBox="1"/>
          <p:nvPr/>
        </p:nvSpPr>
        <p:spPr>
          <a:xfrm>
            <a:off x="548640" y="4681564"/>
            <a:ext cx="5364328" cy="274320"/>
          </a:xfrm>
          <a:prstGeom prst="rect">
            <a:avLst/>
          </a:prstGeom>
          <a:noFill/>
          <a:ln/>
        </p:spPr>
        <p:txBody>
          <a:bodyPr wrap="square" lIns="0" tIns="0" rIns="0" bIns="0" rtlCol="0" anchor="t"/>
          <a:lstStyle/>
          <a:p>
            <a:pPr indent="0" marL="0">
              <a:buNone/>
            </a:pPr>
            <a:r>
              <a:rPr lang="en-US" sz="1100" dirty="0">
                <a:solidFill>
                  <a:schemeClr val="tx2"/>
                </a:solidFill>
              </a:rPr>
              <a:t>C0 at 20 000 steps: mid-span displacement, first 0.15 s (blue: exact; dashed: PINN)</a:t>
            </a:r>
            <a:endParaRPr lang="en-US" sz="1100" dirty="0"/>
          </a:p>
        </p:txBody>
      </p:sp>
      <p:graphicFrame>
        <p:nvGraphicFramePr>
          <p:cNvPr id="6" name="NTK weights chart" descr=""/>
          <p:cNvGraphicFramePr/>
          <p:nvPr/>
        </p:nvGraphicFramePr>
        <p:xfrm>
          <a:off x="6278728" y="1463040"/>
          <a:ext cx="5364328" cy="3246120"/>
        </p:xfrm>
        <a:graphic xmlns:a="http://schemas.openxmlformats.org/drawingml/2006/main">
          <a:graphicData uri="http://schemas.openxmlformats.org/drawingml/2006/chart">
            <c:chart xmlns:c="http://schemas.openxmlformats.org/drawingml/2006/chart" r:id="rId2"/>
          </a:graphicData>
        </a:graphic>
      </p:graphicFrame>
      <p:sp>
        <p:nvSpPr>
          <p:cNvPr id="7" name="Stat 1 value"/>
          <p:cNvSpPr txBox="1"/>
          <p:nvPr/>
        </p:nvSpPr>
        <p:spPr>
          <a:xfrm>
            <a:off x="548640" y="5074920"/>
            <a:ext cx="2636444" cy="50292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3.26</a:t>
            </a:r>
            <a:endParaRPr lang="en-US" sz="2800" dirty="0"/>
          </a:p>
        </p:txBody>
      </p:sp>
      <p:sp>
        <p:nvSpPr>
          <p:cNvPr id="8" name="Stat 1 label"/>
          <p:cNvSpPr txBox="1"/>
          <p:nvPr/>
        </p:nvSpPr>
        <p:spPr>
          <a:xfrm>
            <a:off x="548640" y="5577840"/>
            <a:ext cx="2636444" cy="320040"/>
          </a:xfrm>
          <a:prstGeom prst="rect">
            <a:avLst/>
          </a:prstGeom>
          <a:noFill/>
          <a:ln/>
        </p:spPr>
        <p:txBody>
          <a:bodyPr wrap="square" lIns="0" tIns="0" rIns="0" bIns="0" rtlCol="0" anchor="t"/>
          <a:lstStyle/>
          <a:p>
            <a:pPr indent="0" marL="0">
              <a:buNone/>
            </a:pPr>
            <a:r>
              <a:rPr lang="en-US" sz="1200" dirty="0">
                <a:solidFill>
                  <a:schemeClr val="tx2"/>
                </a:solidFill>
              </a:rPr>
              <a:t>relative L2 at 20 000 steps</a:t>
            </a:r>
            <a:endParaRPr lang="en-US" sz="1200" dirty="0"/>
          </a:p>
        </p:txBody>
      </p:sp>
      <p:sp>
        <p:nvSpPr>
          <p:cNvPr id="9" name="Stat 2 value"/>
          <p:cNvSpPr txBox="1"/>
          <p:nvPr/>
        </p:nvSpPr>
        <p:spPr>
          <a:xfrm>
            <a:off x="3367964" y="5074920"/>
            <a:ext cx="2636444" cy="50292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0.06</a:t>
            </a:r>
            <a:endParaRPr lang="en-US" sz="2800" dirty="0"/>
          </a:p>
        </p:txBody>
      </p:sp>
      <p:sp>
        <p:nvSpPr>
          <p:cNvPr id="10" name="Stat 2 label"/>
          <p:cNvSpPr txBox="1"/>
          <p:nvPr/>
        </p:nvSpPr>
        <p:spPr>
          <a:xfrm>
            <a:off x="3367964" y="5577840"/>
            <a:ext cx="2636444" cy="320040"/>
          </a:xfrm>
          <a:prstGeom prst="rect">
            <a:avLst/>
          </a:prstGeom>
          <a:noFill/>
          <a:ln/>
        </p:spPr>
        <p:txBody>
          <a:bodyPr wrap="square" lIns="0" tIns="0" rIns="0" bIns="0" rtlCol="0" anchor="t"/>
          <a:lstStyle/>
          <a:p>
            <a:pPr indent="0" marL="0">
              <a:buNone/>
            </a:pPr>
            <a:r>
              <a:rPr lang="en-US" sz="1200" dirty="0">
                <a:solidFill>
                  <a:schemeClr val="tx2"/>
                </a:solidFill>
              </a:rPr>
              <a:t>amplitude ratio, PINN / exact</a:t>
            </a:r>
            <a:endParaRPr lang="en-US" sz="1200" dirty="0"/>
          </a:p>
        </p:txBody>
      </p:sp>
      <p:sp>
        <p:nvSpPr>
          <p:cNvPr id="11" name="Stat 3 value"/>
          <p:cNvSpPr txBox="1"/>
          <p:nvPr/>
        </p:nvSpPr>
        <p:spPr>
          <a:xfrm>
            <a:off x="6187288" y="5074920"/>
            <a:ext cx="2636444" cy="502920"/>
          </a:xfrm>
          <a:prstGeom prst="rect">
            <a:avLst/>
          </a:prstGeom>
          <a:noFill/>
          <a:ln/>
        </p:spPr>
        <p:txBody>
          <a:bodyPr wrap="square" lIns="0" tIns="0" rIns="0" bIns="0" rtlCol="0" anchor="t"/>
          <a:lstStyle/>
          <a:p>
            <a:pPr indent="0" marL="0">
              <a:buNone/>
            </a:pPr>
            <a:r>
              <a:rPr lang="en-US" sz="2800" b="1" dirty="0">
                <a:solidFill>
                  <a:schemeClr val="accent4"/>
                </a:solidFill>
                <a:latin typeface="Cambria" pitchFamily="34" charset="0"/>
                <a:ea typeface="Cambria" pitchFamily="34" charset="-122"/>
                <a:cs typeface="Cambria" pitchFamily="34" charset="-120"/>
              </a:rPr>
              <a:t>~10¹⁴–10¹⁵</a:t>
            </a:r>
            <a:endParaRPr lang="en-US" sz="2800" dirty="0"/>
          </a:p>
        </p:txBody>
      </p:sp>
      <p:sp>
        <p:nvSpPr>
          <p:cNvPr id="12" name="Stat 3 label"/>
          <p:cNvSpPr txBox="1"/>
          <p:nvPr/>
        </p:nvSpPr>
        <p:spPr>
          <a:xfrm>
            <a:off x="6187288" y="5577840"/>
            <a:ext cx="2636444" cy="320040"/>
          </a:xfrm>
          <a:prstGeom prst="rect">
            <a:avLst/>
          </a:prstGeom>
          <a:noFill/>
          <a:ln/>
        </p:spPr>
        <p:txBody>
          <a:bodyPr wrap="square" lIns="0" tIns="0" rIns="0" bIns="0" rtlCol="0" anchor="t"/>
          <a:lstStyle/>
          <a:p>
            <a:pPr indent="0" marL="0">
              <a:buNone/>
            </a:pPr>
            <a:r>
              <a:rPr lang="en-US" sz="1200" dirty="0">
                <a:solidFill>
                  <a:schemeClr val="tx2"/>
                </a:solidFill>
              </a:rPr>
              <a:t>final λ_ut 8.5e14, λ_ux 9.9e14</a:t>
            </a:r>
            <a:endParaRPr lang="en-US" sz="1200" dirty="0"/>
          </a:p>
        </p:txBody>
      </p:sp>
      <p:sp>
        <p:nvSpPr>
          <p:cNvPr id="13" name="Stat 4 value"/>
          <p:cNvSpPr txBox="1"/>
          <p:nvPr/>
        </p:nvSpPr>
        <p:spPr>
          <a:xfrm>
            <a:off x="9006611" y="5074920"/>
            <a:ext cx="2636444" cy="50292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0 cycles</a:t>
            </a:r>
            <a:endParaRPr lang="en-US" sz="2800" dirty="0"/>
          </a:p>
        </p:txBody>
      </p:sp>
      <p:sp>
        <p:nvSpPr>
          <p:cNvPr id="14" name="Stat 4 label"/>
          <p:cNvSpPr txBox="1"/>
          <p:nvPr/>
        </p:nvSpPr>
        <p:spPr>
          <a:xfrm>
            <a:off x="9006611" y="5577840"/>
            <a:ext cx="2636444" cy="320040"/>
          </a:xfrm>
          <a:prstGeom prst="rect">
            <a:avLst/>
          </a:prstGeom>
          <a:noFill/>
          <a:ln/>
        </p:spPr>
        <p:txBody>
          <a:bodyPr wrap="square" lIns="0" tIns="0" rIns="0" bIns="0" rtlCol="0" anchor="t"/>
          <a:lstStyle/>
          <a:p>
            <a:pPr indent="0" marL="0">
              <a:buNone/>
            </a:pPr>
            <a:r>
              <a:rPr lang="en-US" sz="1200" dirty="0">
                <a:solidFill>
                  <a:schemeClr val="tx2"/>
                </a:solidFill>
              </a:rPr>
              <a:t>static / low-frequency attractor</a:t>
            </a:r>
            <a:endParaRPr lang="en-US" sz="1200" dirty="0"/>
          </a:p>
        </p:txBody>
      </p:sp>
      <p:sp>
        <p:nvSpPr>
          <p:cNvPr id="15" name="Interpretation caveat"/>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200" i="1" dirty="0">
                <a:solidFill>
                  <a:schemeClr val="accent4"/>
                </a:solidFill>
              </a:rPr>
              <a:t>Observed optimization failure in our implementation. The weight growth coincides with the static solution; it does not prove that NTK weighting causes the collapse.</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CONDITIONING AND REPRESENTATION</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bottleneck is optimization, not capacity</a:t>
            </a:r>
            <a:endParaRPr lang="en-US" sz="3200" dirty="0"/>
          </a:p>
        </p:txBody>
      </p:sp>
      <p:sp>
        <p:nvSpPr>
          <p:cNvPr id="4" name="Ansatz"/>
          <p:cNvSpPr txBox="1"/>
          <p:nvPr/>
        </p:nvSpPr>
        <p:spPr>
          <a:xfrm>
            <a:off x="548640" y="1463040"/>
            <a:ext cx="5120640" cy="365760"/>
          </a:xfrm>
          <a:prstGeom prst="rect">
            <a:avLst/>
          </a:prstGeom>
          <a:noFill/>
          <a:ln/>
        </p:spPr>
        <p:txBody>
          <a:bodyPr wrap="square" lIns="0" tIns="0" rIns="0" bIns="0" rtlCol="0" anchor="t"/>
          <a:lstStyle/>
          <a:p>
            <a:pPr indent="0" marL="0">
              <a:buNone/>
            </a:pPr>
            <a:r>
              <a:rPr lang="en-US" sz="1500" b="1" dirty="0">
                <a:solidFill>
                  <a:schemeClr val="tx1"/>
                </a:solidFill>
              </a:rPr>
              <a:t>Hard-constraint ansatz:  u = u₀(x) + g(t)·Φ(x)·A₀·N(x, t)</a:t>
            </a:r>
            <a:endParaRPr lang="en-US" sz="1500" dirty="0"/>
          </a:p>
        </p:txBody>
      </p:sp>
      <p:sp>
        <p:nvSpPr>
          <p:cNvPr id="5" name="Ansatz card 1"/>
          <p:cNvSpPr/>
          <p:nvPr/>
        </p:nvSpPr>
        <p:spPr>
          <a:xfrm>
            <a:off x="548640" y="2011680"/>
            <a:ext cx="5120640" cy="1417320"/>
          </a:xfrm>
          <a:prstGeom prst="roundRect">
            <a:avLst>
              <a:gd name="adj" fmla="val 5161"/>
            </a:avLst>
          </a:prstGeom>
          <a:solidFill>
            <a:schemeClr val="bg2"/>
          </a:solidFill>
          <a:ln/>
        </p:spPr>
      </p:sp>
      <p:sp>
        <p:nvSpPr>
          <p:cNvPr id="6" name="Ansatz 1 text"/>
          <p:cNvSpPr txBox="1"/>
          <p:nvPr/>
        </p:nvSpPr>
        <p:spPr>
          <a:xfrm>
            <a:off x="731520" y="2148840"/>
            <a:ext cx="2651760" cy="10972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g(t) = (t/T)²</a:t>
            </a:r>
            <a:endParaRPr lang="en-US" sz="1400" dirty="0"/>
          </a:p>
          <a:p>
            <a:pPr indent="0" marL="0">
              <a:buNone/>
            </a:pPr>
            <a:r>
              <a:rPr lang="en-US" sz="1200" dirty="0">
                <a:solidFill>
                  <a:schemeClr val="tx2"/>
                </a:solidFill>
              </a:rPr>
              <a:t>original time factor</a:t>
            </a:r>
            <a:endParaRPr lang="en-US" sz="1400" dirty="0"/>
          </a:p>
        </p:txBody>
      </p:sp>
      <p:sp>
        <p:nvSpPr>
          <p:cNvPr id="7" name="Ansatz 1 value"/>
          <p:cNvSpPr txBox="1"/>
          <p:nvPr/>
        </p:nvSpPr>
        <p:spPr>
          <a:xfrm>
            <a:off x="3474720" y="2121408"/>
            <a:ext cx="2057400" cy="548640"/>
          </a:xfrm>
          <a:prstGeom prst="rect">
            <a:avLst/>
          </a:prstGeom>
          <a:noFill/>
          <a:ln/>
        </p:spPr>
        <p:txBody>
          <a:bodyPr wrap="square" lIns="0" tIns="0" rIns="0" bIns="0" rtlCol="0" anchor="t"/>
          <a:lstStyle/>
          <a:p>
            <a:pPr algn="l" indent="0" marL="0">
              <a:buNone/>
            </a:pPr>
            <a:r>
              <a:rPr lang="en-US" sz="2800" b="1" dirty="0">
                <a:solidFill>
                  <a:schemeClr val="accent4"/>
                </a:solidFill>
                <a:latin typeface="Cambria" pitchFamily="34" charset="0"/>
                <a:ea typeface="Cambria" pitchFamily="34" charset="-122"/>
                <a:cs typeface="Cambria" pitchFamily="34" charset="-120"/>
              </a:rPr>
              <a:t>≈ −8 400</a:t>
            </a:r>
            <a:endParaRPr lang="en-US" sz="2800" dirty="0"/>
          </a:p>
        </p:txBody>
      </p:sp>
      <p:sp>
        <p:nvSpPr>
          <p:cNvPr id="8" name="Ansatz 1 caption"/>
          <p:cNvSpPr txBox="1"/>
          <p:nvPr/>
        </p:nvSpPr>
        <p:spPr>
          <a:xfrm>
            <a:off x="3474720" y="2670048"/>
            <a:ext cx="2057400" cy="594360"/>
          </a:xfrm>
          <a:prstGeom prst="rect">
            <a:avLst/>
          </a:prstGeom>
          <a:noFill/>
          <a:ln/>
        </p:spPr>
        <p:txBody>
          <a:bodyPr wrap="square" lIns="0" tIns="0" rIns="0" bIns="0" rtlCol="0" anchor="t"/>
          <a:lstStyle/>
          <a:p>
            <a:pPr indent="0" marL="0">
              <a:buNone/>
            </a:pPr>
            <a:r>
              <a:rPr lang="en-US" sz="1200" dirty="0">
                <a:solidFill>
                  <a:schemeClr val="tx2"/>
                </a:solidFill>
              </a:rPr>
              <a:t>required network output N near t → 0 (range −8 369 to −1.0)</a:t>
            </a:r>
            <a:endParaRPr lang="en-US" sz="1200" dirty="0"/>
          </a:p>
        </p:txBody>
      </p:sp>
      <p:sp>
        <p:nvSpPr>
          <p:cNvPr id="9" name="Ansatz card 2"/>
          <p:cNvSpPr/>
          <p:nvPr/>
        </p:nvSpPr>
        <p:spPr>
          <a:xfrm>
            <a:off x="548640" y="3611880"/>
            <a:ext cx="5120640" cy="1417320"/>
          </a:xfrm>
          <a:prstGeom prst="roundRect">
            <a:avLst>
              <a:gd name="adj" fmla="val 5161"/>
            </a:avLst>
          </a:prstGeom>
          <a:solidFill>
            <a:schemeClr val="bg2"/>
          </a:solidFill>
          <a:ln/>
        </p:spPr>
      </p:sp>
      <p:sp>
        <p:nvSpPr>
          <p:cNvPr id="10" name="Ansatz 2 text"/>
          <p:cNvSpPr txBox="1"/>
          <p:nvPr/>
        </p:nvSpPr>
        <p:spPr>
          <a:xfrm>
            <a:off x="731520" y="3749040"/>
            <a:ext cx="2651760" cy="10972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g(t) = tanh²(ω₁t)</a:t>
            </a:r>
            <a:endParaRPr lang="en-US" sz="1400" dirty="0"/>
          </a:p>
          <a:p>
            <a:pPr indent="0" marL="0">
              <a:buNone/>
            </a:pPr>
            <a:r>
              <a:rPr lang="en-US" sz="1200" dirty="0">
                <a:solidFill>
                  <a:schemeClr val="tx2"/>
                </a:solidFill>
              </a:rPr>
              <a:t>ω₁ = 129.37 rad/s from PDE coefficient + clamped-beam eigenproblem</a:t>
            </a:r>
            <a:endParaRPr lang="en-US" sz="1400" dirty="0"/>
          </a:p>
        </p:txBody>
      </p:sp>
      <p:sp>
        <p:nvSpPr>
          <p:cNvPr id="11" name="Ansatz 2 value"/>
          <p:cNvSpPr txBox="1"/>
          <p:nvPr/>
        </p:nvSpPr>
        <p:spPr>
          <a:xfrm>
            <a:off x="3474720" y="3721608"/>
            <a:ext cx="2057400" cy="548640"/>
          </a:xfrm>
          <a:prstGeom prst="rect">
            <a:avLst/>
          </a:prstGeom>
          <a:noFill/>
          <a:ln/>
        </p:spPr>
        <p:txBody>
          <a:bodyPr wrap="square" lIns="0" tIns="0" rIns="0" bIns="0" rtlCol="0" anchor="t"/>
          <a:lstStyle/>
          <a:p>
            <a:pPr algn="l" indent="0" marL="0">
              <a:buNone/>
            </a:pPr>
            <a:r>
              <a:rPr lang="en-US" sz="2800" b="1" dirty="0">
                <a:solidFill>
                  <a:schemeClr val="accent2"/>
                </a:solidFill>
                <a:latin typeface="Cambria" pitchFamily="34" charset="0"/>
                <a:ea typeface="Cambria" pitchFamily="34" charset="-122"/>
                <a:cs typeface="Cambria" pitchFamily="34" charset="-120"/>
              </a:rPr>
              <a:t>O(1)</a:t>
            </a:r>
            <a:endParaRPr lang="en-US" sz="2800" dirty="0"/>
          </a:p>
        </p:txBody>
      </p:sp>
      <p:sp>
        <p:nvSpPr>
          <p:cNvPr id="12" name="Ansatz 2 caption"/>
          <p:cNvSpPr txBox="1"/>
          <p:nvPr/>
        </p:nvSpPr>
        <p:spPr>
          <a:xfrm>
            <a:off x="3474720" y="4270248"/>
            <a:ext cx="2057400" cy="594360"/>
          </a:xfrm>
          <a:prstGeom prst="rect">
            <a:avLst/>
          </a:prstGeom>
          <a:noFill/>
          <a:ln/>
        </p:spPr>
        <p:txBody>
          <a:bodyPr wrap="square" lIns="0" tIns="0" rIns="0" bIns="0" rtlCol="0" anchor="t"/>
          <a:lstStyle/>
          <a:p>
            <a:pPr indent="0" marL="0">
              <a:buNone/>
            </a:pPr>
            <a:r>
              <a:rPr lang="en-US" sz="1200" dirty="0">
                <a:solidFill>
                  <a:schemeClr val="tx2"/>
                </a:solidFill>
              </a:rPr>
              <a:t>required N in −1.9 to −0.16</a:t>
            </a:r>
            <a:endParaRPr lang="en-US" sz="1200" dirty="0"/>
          </a:p>
        </p:txBody>
      </p:sp>
      <p:sp>
        <p:nvSpPr>
          <p:cNvPr id="13" name="Gradient note"/>
          <p:cNvSpPr txBox="1"/>
          <p:nvPr/>
        </p:nvSpPr>
        <p:spPr>
          <a:xfrm>
            <a:off x="548640" y="5349240"/>
            <a:ext cx="5120640" cy="91440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Both factors enforce the IC and BCs exactly (IC error 4.8e-6, BC error 1.4e-5).</a:t>
            </a:r>
            <a:endParaRPr lang="en-US" sz="1200" dirty="0"/>
          </a:p>
          <a:p>
            <a:pPr indent="0" marL="0">
              <a:spcAft>
                <a:spcPts val="600"/>
              </a:spcAft>
              <a:buNone/>
            </a:pPr>
            <a:r>
              <a:rPr lang="en-US" sz="1200" dirty="0">
                <a:solidFill>
                  <a:schemeClr val="tx2"/>
                </a:solidFill>
              </a:rPr>
              <a:t>PDE-loss gradient norm, early (t &lt; 0.02 s) vs late (t &gt; 0.5 s): 7.2e3 vs 1.5e8 for (t/T)² (E4); 8.4e5 vs 9.8e4 for tanh² (X2).</a:t>
            </a:r>
            <a:endParaRPr lang="en-US" sz="1200" dirty="0"/>
          </a:p>
        </p:txBody>
      </p:sp>
      <p:sp>
        <p:nvSpPr>
          <p:cNvPr id="14" name="Representation heading"/>
          <p:cNvSpPr txBox="1"/>
          <p:nvPr/>
        </p:nvSpPr>
        <p:spPr>
          <a:xfrm>
            <a:off x="6080760" y="1463040"/>
            <a:ext cx="5562295" cy="365760"/>
          </a:xfrm>
          <a:prstGeom prst="rect">
            <a:avLst/>
          </a:prstGeom>
          <a:noFill/>
          <a:ln/>
        </p:spPr>
        <p:txBody>
          <a:bodyPr wrap="square" lIns="0" tIns="0" rIns="0" bIns="0" rtlCol="0" anchor="t"/>
          <a:lstStyle/>
          <a:p>
            <a:pPr indent="0" marL="0">
              <a:buNone/>
            </a:pPr>
            <a:r>
              <a:rPr lang="en-US" sz="1500" b="1" dirty="0">
                <a:solidFill>
                  <a:schemeClr val="tx1"/>
                </a:solidFill>
              </a:rPr>
              <a:t>Representation check: supervised fit of the exact solution</a:t>
            </a:r>
            <a:endParaRPr lang="en-US" sz="1500" dirty="0"/>
          </a:p>
        </p:txBody>
      </p:sp>
      <p:pic>
        <p:nvPicPr>
          <p:cNvPr id="15" name="X3 supervised trace" descr="X3 supervised fit vs exact mid-span displacement over the full 1 s window">    </p:cNvPr>
          <p:cNvPicPr>
            <a:picLocks noChangeAspect="1"/>
          </p:cNvPicPr>
          <p:nvPr/>
        </p:nvPicPr>
        <p:blipFill>
          <a:blip r:embed="rId1"/>
          <a:stretch>
            <a:fillRect/>
          </a:stretch>
        </p:blipFill>
        <p:spPr>
          <a:xfrm>
            <a:off x="6080760" y="1920240"/>
            <a:ext cx="5562295" cy="1146170"/>
          </a:xfrm>
          <a:prstGeom prst="rect">
            <a:avLst/>
          </a:prstGeom>
        </p:spPr>
      </p:pic>
      <p:graphicFrame>
        <p:nvGraphicFramePr>
          <p:cNvPr id="6" name="Supervised results table"/>
          <p:cNvGraphicFramePr>
            <a:graphicFrameLocks noGrp="1"/>
          </p:cNvGraphicFramePr>
          <p:nvPr>
            <p:extLst>
              <p:ext uri="{D42A27DB-BD31-4B8C-83A1-F6EECF244321}">
                <p14:modId xmlns:p14="http://schemas.microsoft.com/office/powerpoint/2010/main" val="1579011935"/>
              </p:ext>
            </p:extLst>
          </p:nvPr>
        </p:nvGraphicFramePr>
        <p:xfrm>
          <a:off x="6080760" y="3203570"/>
          <a:ext cx="5562295" cy="914400"/>
        </p:xfrm>
        <a:graphic>
          <a:graphicData uri="http://schemas.openxmlformats.org/drawingml/2006/table">
            <a:tbl>
              <a:tblPr/>
              <a:tblGrid>
                <a:gridCol w="3367735"/>
                <a:gridCol w="1005840"/>
                <a:gridCol w="1188720"/>
              </a:tblGrid>
              <a:tr h="310896">
                <a:tc>
                  <a:txBody>
                    <a:bodyPr/>
                    <a:lstStyle/>
                    <a:p>
                      <a:pPr indent="0" marL="0">
                        <a:buNone/>
                      </a:pPr>
                      <a:r>
                        <a:rPr lang="en-US" sz="1300" b="1" dirty="0">
                          <a:solidFill>
                            <a:schemeClr val="tx1"/>
                          </a:solidFill>
                        </a:rPr>
                        <a:t>Diagnostic (5 000 steps)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rPr>
                        <a:t>Rel. L2</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rPr>
                        <a:t>ω [rad/s]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310896">
                <a:tc>
                  <a:txBody>
                    <a:bodyPr/>
                    <a:lstStyle/>
                    <a:p>
                      <a:pPr indent="0" marL="0">
                        <a:buNone/>
                      </a:pPr>
                      <a:r>
                        <a:rPr lang="en-US" sz="1300" dirty="0">
                          <a:solidFill>
                            <a:schemeClr val="tx1"/>
                          </a:solidFill>
                        </a:rPr>
                        <a:t>X3 supervised (paper convention)</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0.463</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129.25</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310896">
                <a:tc>
                  <a:txBody>
                    <a:bodyPr/>
                    <a:lstStyle/>
                    <a:p>
                      <a:pPr indent="0" marL="0">
                        <a:buNone/>
                      </a:pPr>
                      <a:r>
                        <a:rPr lang="en-US" sz="1300" dirty="0">
                          <a:solidFill>
                            <a:schemeClr val="tx1"/>
                          </a:solidFill>
                        </a:rPr>
                        <a:t>X4 supervised (reference-code conv.)</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0.316</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129.37</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310896">
                <a:tc>
                  <a:txBody>
                    <a:bodyPr/>
                    <a:lstStyle/>
                    <a:p>
                      <a:pPr indent="0" marL="0">
                        <a:buNone/>
                      </a:pPr>
                      <a:r>
                        <a:rPr lang="en-US" sz="1300" dirty="0">
                          <a:solidFill>
                            <a:schemeClr val="tx1"/>
                          </a:solidFill>
                        </a:rPr>
                        <a:t>Exact solution</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129.32</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17" name="Conclusion card"/>
          <p:cNvSpPr/>
          <p:nvPr/>
        </p:nvSpPr>
        <p:spPr>
          <a:xfrm>
            <a:off x="6080760" y="4846320"/>
            <a:ext cx="5562295" cy="1417320"/>
          </a:xfrm>
          <a:prstGeom prst="roundRect">
            <a:avLst>
              <a:gd name="adj" fmla="val 5161"/>
            </a:avLst>
          </a:prstGeom>
          <a:solidFill>
            <a:schemeClr val="tx1"/>
          </a:solidFill>
          <a:ln/>
        </p:spPr>
      </p:sp>
      <p:sp>
        <p:nvSpPr>
          <p:cNvPr id="18" name="Conclusion quote"/>
          <p:cNvSpPr txBox="1"/>
          <p:nvPr/>
        </p:nvSpPr>
        <p:spPr>
          <a:xfrm>
            <a:off x="6309360" y="4956048"/>
            <a:ext cx="5105095" cy="1188720"/>
          </a:xfrm>
          <a:prstGeom prst="rect">
            <a:avLst/>
          </a:prstGeom>
          <a:noFill/>
          <a:ln/>
        </p:spPr>
        <p:txBody>
          <a:bodyPr wrap="square" lIns="0" tIns="0" rIns="0" bIns="0" rtlCol="0" anchor="ctr"/>
          <a:lstStyle/>
          <a:p>
            <a:pPr indent="0" marL="0">
              <a:buNone/>
            </a:pPr>
            <a:r>
              <a:rPr lang="en-US" sz="1500" i="1" dirty="0">
                <a:solidFill>
                  <a:schemeClr val="bg1"/>
                </a:solidFill>
              </a:rPr>
              <a:t>“The network has sufficient representational capacity; the principal difficulty is physics-constrained optimization/conditioning rather than inability to represent the target frequency.”</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OPTIMIZATION RESULTS: PHASES E → X → Y → Z</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Later collapse, but never the full window</a:t>
            </a:r>
            <a:endParaRPr lang="en-US" sz="3200" dirty="0"/>
          </a:p>
        </p:txBody>
      </p:sp>
      <p:graphicFrame>
        <p:nvGraphicFramePr>
          <p:cNvPr id="7" name="Phase progression table"/>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1097280"/>
                <a:gridCol w="3063240"/>
                <a:gridCol w="868680"/>
                <a:gridCol w="1920240"/>
              </a:tblGrid>
              <a:tr h="329184">
                <a:tc>
                  <a:txBody>
                    <a:bodyPr/>
                    <a:lstStyle/>
                    <a:p>
                      <a:pPr algn="l" indent="0" marL="0">
                        <a:buNone/>
                      </a:pPr>
                      <a:r>
                        <a:rPr lang="en-US" sz="1300" b="1" dirty="0">
                          <a:solidFill>
                            <a:schemeClr val="bg1"/>
                          </a:solidFill>
                        </a:rPr>
                        <a:t>Phase · run</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Single change vs parent</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solidFill>
                  </a:tcPr>
                </a:tc>
                <a:tc>
                  <a:txBody>
                    <a:bodyPr/>
                    <a:lstStyle/>
                    <a:p>
                      <a:pPr algn="r" indent="0" marL="0">
                        <a:buNone/>
                      </a:pPr>
                      <a:r>
                        <a:rPr lang="en-US" sz="1300" b="1" dirty="0">
                          <a:solidFill>
                            <a:schemeClr val="bg1"/>
                          </a:solidFill>
                        </a:rPr>
                        <a:t>Rel. L2</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solidFill>
                  </a:tcPr>
                </a:tc>
                <a:tc>
                  <a:txBody>
                    <a:bodyPr/>
                    <a:lstStyle/>
                    <a:p>
                      <a:pPr algn="r" indent="0" marL="0">
                        <a:buNone/>
                      </a:pPr>
                      <a:r>
                        <a:rPr lang="en-US" sz="1300" b="1" dirty="0">
                          <a:solidFill>
                            <a:schemeClr val="bg1"/>
                          </a:solidFill>
                        </a:rPr>
                        <a:t>Persistence</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solidFill>
                  </a:tcPr>
                </a:tc>
              </a:tr>
              <a:tr h="329184">
                <a:tc>
                  <a:txBody>
                    <a:bodyPr/>
                    <a:lstStyle/>
                    <a:p>
                      <a:pPr algn="l" indent="0" marL="0">
                        <a:buNone/>
                      </a:pPr>
                      <a:r>
                        <a:rPr lang="en-US" sz="1300" dirty="0">
                          <a:solidFill>
                            <a:schemeClr val="tx1"/>
                          </a:solidFill>
                        </a:rPr>
                        <a:t>E · E4</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l" indent="0" marL="0">
                        <a:buNone/>
                      </a:pPr>
                      <a:r>
                        <a:rPr lang="en-US" sz="1300" dirty="0">
                          <a:solidFill>
                            <a:schemeClr val="tx1"/>
                          </a:solidFill>
                        </a:rPr>
                        <a:t>hard constraints, g = (t/T)²</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2.83</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no oscillation</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chemeClr val="tx1"/>
                          </a:solidFill>
                        </a:rPr>
                        <a:t>X · X2</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l" indent="0" marL="0">
                        <a:buNone/>
                      </a:pPr>
                      <a:r>
                        <a:rPr lang="en-US" sz="1300" dirty="0">
                          <a:solidFill>
                            <a:schemeClr val="tx1"/>
                          </a:solidFill>
                        </a:rPr>
                        <a:t>g = tanh²(ω₁t), ref.-code convention</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0.909</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ω 112.2, over-damped</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chemeClr val="tx1"/>
                          </a:solidFill>
                        </a:rPr>
                        <a:t>Y · Y1</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l" indent="0" marL="0">
                        <a:buNone/>
                      </a:pPr>
                      <a:r>
                        <a:rPr lang="en-US" sz="1300" dirty="0">
                          <a:solidFill>
                            <a:schemeClr val="tx1"/>
                          </a:solidFill>
                        </a:rPr>
                        <a:t>+ LR schedule 1e-3·0.9^(k/1000)</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0.774</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1.2 cycles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chemeClr val="tx1"/>
                          </a:solidFill>
                        </a:rPr>
                        <a:t>Z · Z1</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l" indent="0" marL="0">
                        <a:buNone/>
                      </a:pPr>
                      <a:r>
                        <a:rPr lang="en-US" sz="1300" dirty="0">
                          <a:solidFill>
                            <a:schemeClr val="tx1"/>
                          </a:solidFill>
                        </a:rPr>
                        <a:t>Y1 + RAD sampling</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0.718</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1.6 cycles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chemeClr val="tx1"/>
                          </a:solidFill>
                        </a:rPr>
                        <a:t>Z · Z4</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l" indent="0" marL="0">
                        <a:buNone/>
                      </a:pPr>
                      <a:r>
                        <a:rPr lang="en-US" sz="1300" dirty="0">
                          <a:solidFill>
                            <a:schemeClr val="tx1"/>
                          </a:solidFill>
                        </a:rPr>
                        <a:t>Y1 with mini-batch 128</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0.526</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3.2 cycles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FFFFF"/>
                    </a:solidFill>
                  </a:tcPr>
                </a:tc>
              </a:tr>
              <a:tr h="329184">
                <a:tc>
                  <a:txBody>
                    <a:bodyPr/>
                    <a:lstStyle/>
                    <a:p>
                      <a:pPr algn="l" indent="0" marL="0">
                        <a:buNone/>
                      </a:pPr>
                      <a:r>
                        <a:rPr lang="en-US" sz="1300" b="1" dirty="0">
                          <a:solidFill>
                            <a:schemeClr val="tx1"/>
                          </a:solidFill>
                        </a:rPr>
                        <a:t>Z4-20K</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CEADF"/>
                    </a:solidFill>
                  </a:tcPr>
                </a:tc>
                <a:tc>
                  <a:txBody>
                    <a:bodyPr/>
                    <a:lstStyle/>
                    <a:p>
                      <a:pPr algn="l" indent="0" marL="0">
                        <a:buNone/>
                      </a:pPr>
                      <a:r>
                        <a:rPr lang="en-US" sz="1300" b="1" dirty="0">
                          <a:solidFill>
                            <a:schemeClr val="tx1"/>
                          </a:solidFill>
                        </a:rPr>
                        <a:t>Z4 with 20 000 steps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CEADF"/>
                    </a:solidFill>
                  </a:tcPr>
                </a:tc>
                <a:tc>
                  <a:txBody>
                    <a:bodyPr/>
                    <a:lstStyle/>
                    <a:p>
                      <a:pPr algn="r" indent="0" marL="0">
                        <a:buNone/>
                      </a:pPr>
                      <a:r>
                        <a:rPr lang="en-US" sz="1300" b="1" dirty="0">
                          <a:solidFill>
                            <a:schemeClr val="tx1"/>
                          </a:solidFill>
                        </a:rPr>
                        <a:t>0.263</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CEADF"/>
                    </a:solidFill>
                  </a:tcPr>
                </a:tc>
                <a:tc>
                  <a:txBody>
                    <a:bodyPr/>
                    <a:lstStyle/>
                    <a:p>
                      <a:pPr algn="r" indent="0" marL="0">
                        <a:buNone/>
                      </a:pPr>
                      <a:r>
                        <a:rPr lang="en-US" sz="1300" b="1" dirty="0">
                          <a:solidFill>
                            <a:schemeClr val="tx1"/>
                          </a:solidFill>
                        </a:rPr>
                        <a:t>8.1 cycles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FCEADF"/>
                    </a:solidFill>
                  </a:tcPr>
                </a:tc>
              </a:tr>
            </a:tbl>
          </a:graphicData>
        </a:graphic>
      </p:graphicFrame>
      <p:sp>
        <p:nvSpPr>
          <p:cNvPr id="5" name="Table caption"/>
          <p:cNvSpPr txBox="1"/>
          <p:nvPr/>
        </p:nvSpPr>
        <p:spPr>
          <a:xfrm>
            <a:off x="548640" y="3794760"/>
            <a:ext cx="6949440" cy="274320"/>
          </a:xfrm>
          <a:prstGeom prst="rect">
            <a:avLst/>
          </a:prstGeom>
          <a:noFill/>
          <a:ln/>
        </p:spPr>
        <p:txBody>
          <a:bodyPr wrap="square" lIns="0" tIns="0" rIns="0" bIns="0" rtlCol="0" anchor="t"/>
          <a:lstStyle/>
          <a:p>
            <a:pPr indent="0" marL="0">
              <a:buNone/>
            </a:pPr>
            <a:r>
              <a:rPr lang="en-US" sz="1100" dirty="0">
                <a:solidFill>
                  <a:schemeClr val="tx2"/>
                </a:solidFill>
              </a:rPr>
              <a:t>5 000 steps unless noted. Persistence: cycles until local amplitude &lt; 50 % of exact (full window 20.6).</a:t>
            </a:r>
            <a:endParaRPr lang="en-US" sz="1100" dirty="0"/>
          </a:p>
        </p:txBody>
      </p:sp>
      <p:sp>
        <p:nvSpPr>
          <p:cNvPr id="6" name="Z4-20K card"/>
          <p:cNvSpPr/>
          <p:nvPr/>
        </p:nvSpPr>
        <p:spPr>
          <a:xfrm>
            <a:off x="7909560" y="1417320"/>
            <a:ext cx="3733495" cy="2697480"/>
          </a:xfrm>
          <a:prstGeom prst="roundRect">
            <a:avLst>
              <a:gd name="adj" fmla="val 2712"/>
            </a:avLst>
          </a:prstGeom>
          <a:solidFill>
            <a:schemeClr val="bg2"/>
          </a:solidFill>
          <a:ln/>
        </p:spPr>
      </p:sp>
      <p:sp>
        <p:nvSpPr>
          <p:cNvPr id="7" name="Card heading"/>
          <p:cNvSpPr txBox="1"/>
          <p:nvPr/>
        </p:nvSpPr>
        <p:spPr>
          <a:xfrm>
            <a:off x="8138160" y="1554480"/>
            <a:ext cx="3276295" cy="320040"/>
          </a:xfrm>
          <a:prstGeom prst="rect">
            <a:avLst/>
          </a:prstGeom>
          <a:noFill/>
          <a:ln/>
        </p:spPr>
        <p:txBody>
          <a:bodyPr wrap="square" lIns="0" tIns="0" rIns="0" bIns="0" rtlCol="0" anchor="t"/>
          <a:lstStyle/>
          <a:p>
            <a:pPr indent="0" marL="0">
              <a:buNone/>
            </a:pPr>
            <a:r>
              <a:rPr lang="en-US" sz="1400" b="1" dirty="0">
                <a:solidFill>
                  <a:schemeClr val="tx1"/>
                </a:solidFill>
              </a:rPr>
              <a:t>Z4-20K at 20 000 steps</a:t>
            </a:r>
            <a:endParaRPr lang="en-US" sz="1400" dirty="0"/>
          </a:p>
        </p:txBody>
      </p:sp>
      <p:sp>
        <p:nvSpPr>
          <p:cNvPr id="8" name="Callout 1 value"/>
          <p:cNvSpPr txBox="1"/>
          <p:nvPr/>
        </p:nvSpPr>
        <p:spPr>
          <a:xfrm>
            <a:off x="8138160" y="1920240"/>
            <a:ext cx="178308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129.2 rad/s</a:t>
            </a:r>
            <a:endParaRPr lang="en-US" sz="2200" dirty="0"/>
          </a:p>
        </p:txBody>
      </p:sp>
      <p:sp>
        <p:nvSpPr>
          <p:cNvPr id="9" name="Callout 1 label"/>
          <p:cNvSpPr txBox="1"/>
          <p:nvPr/>
        </p:nvSpPr>
        <p:spPr>
          <a:xfrm>
            <a:off x="9921240" y="1965960"/>
            <a:ext cx="1538935" cy="548640"/>
          </a:xfrm>
          <a:prstGeom prst="rect">
            <a:avLst/>
          </a:prstGeom>
          <a:noFill/>
          <a:ln/>
        </p:spPr>
        <p:txBody>
          <a:bodyPr wrap="square" lIns="0" tIns="0" rIns="0" bIns="0" rtlCol="0" anchor="t"/>
          <a:lstStyle/>
          <a:p>
            <a:pPr indent="0" marL="0">
              <a:buNone/>
            </a:pPr>
            <a:r>
              <a:rPr lang="en-US" sz="1200" dirty="0">
                <a:solidFill>
                  <a:schemeClr val="tx2"/>
                </a:solidFill>
              </a:rPr>
              <a:t>frequency (exact 129.32)</a:t>
            </a:r>
            <a:endParaRPr lang="en-US" sz="1200" dirty="0"/>
          </a:p>
        </p:txBody>
      </p:sp>
      <p:sp>
        <p:nvSpPr>
          <p:cNvPr id="10" name="Callout 2 value"/>
          <p:cNvSpPr txBox="1"/>
          <p:nvPr/>
        </p:nvSpPr>
        <p:spPr>
          <a:xfrm>
            <a:off x="8138160" y="2633472"/>
            <a:ext cx="1783080" cy="45720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5.40 s⁻¹</a:t>
            </a:r>
            <a:endParaRPr lang="en-US" sz="2200" dirty="0"/>
          </a:p>
        </p:txBody>
      </p:sp>
      <p:sp>
        <p:nvSpPr>
          <p:cNvPr id="11" name="Callout 2 label"/>
          <p:cNvSpPr txBox="1"/>
          <p:nvPr/>
        </p:nvSpPr>
        <p:spPr>
          <a:xfrm>
            <a:off x="9921240" y="2679192"/>
            <a:ext cx="1538935" cy="548640"/>
          </a:xfrm>
          <a:prstGeom prst="rect">
            <a:avLst/>
          </a:prstGeom>
          <a:noFill/>
          <a:ln/>
        </p:spPr>
        <p:txBody>
          <a:bodyPr wrap="square" lIns="0" tIns="0" rIns="0" bIns="0" rtlCol="0" anchor="t"/>
          <a:lstStyle/>
          <a:p>
            <a:pPr indent="0" marL="0">
              <a:buNone/>
            </a:pPr>
            <a:r>
              <a:rPr lang="en-US" sz="1200" dirty="0">
                <a:solidFill>
                  <a:schemeClr val="tx2"/>
                </a:solidFill>
              </a:rPr>
              <a:t>fitted decay (exact 3.54): over-damped</a:t>
            </a:r>
            <a:endParaRPr lang="en-US" sz="1200" dirty="0"/>
          </a:p>
        </p:txBody>
      </p:sp>
      <p:sp>
        <p:nvSpPr>
          <p:cNvPr id="12" name="Callout 3 value"/>
          <p:cNvSpPr txBox="1"/>
          <p:nvPr/>
        </p:nvSpPr>
        <p:spPr>
          <a:xfrm>
            <a:off x="8138160" y="3346704"/>
            <a:ext cx="178308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8.1 / 20.6</a:t>
            </a:r>
            <a:endParaRPr lang="en-US" sz="2200" dirty="0"/>
          </a:p>
        </p:txBody>
      </p:sp>
      <p:sp>
        <p:nvSpPr>
          <p:cNvPr id="13" name="Callout 3 label"/>
          <p:cNvSpPr txBox="1"/>
          <p:nvPr/>
        </p:nvSpPr>
        <p:spPr>
          <a:xfrm>
            <a:off x="9921240" y="3392424"/>
            <a:ext cx="1538935" cy="548640"/>
          </a:xfrm>
          <a:prstGeom prst="rect">
            <a:avLst/>
          </a:prstGeom>
          <a:noFill/>
          <a:ln/>
        </p:spPr>
        <p:txBody>
          <a:bodyPr wrap="square" lIns="0" tIns="0" rIns="0" bIns="0" rtlCol="0" anchor="t"/>
          <a:lstStyle/>
          <a:p>
            <a:pPr indent="0" marL="0">
              <a:buNone/>
            </a:pPr>
            <a:r>
              <a:rPr lang="en-US" sz="1200" dirty="0">
                <a:solidFill>
                  <a:schemeClr val="tx2"/>
                </a:solidFill>
              </a:rPr>
              <a:t>cycles before collapse</a:t>
            </a:r>
            <a:endParaRPr lang="en-US" sz="1200" dirty="0"/>
          </a:p>
        </p:txBody>
      </p:sp>
      <p:pic>
        <p:nvPicPr>
          <p:cNvPr id="14" name="Z4-20K trace" descr="Z4-20K mid-span displacement vs exact at 20 000 steps; collapse marked at 0.393 s">    </p:cNvPr>
          <p:cNvPicPr>
            <a:picLocks noChangeAspect="1"/>
          </p:cNvPicPr>
          <p:nvPr/>
        </p:nvPicPr>
        <p:blipFill>
          <a:blip r:embed="rId1"/>
          <a:stretch>
            <a:fillRect/>
          </a:stretch>
        </p:blipFill>
        <p:spPr>
          <a:xfrm>
            <a:off x="548640" y="4270248"/>
            <a:ext cx="9541197" cy="1934743"/>
          </a:xfrm>
          <a:prstGeom prst="rect">
            <a:avLst/>
          </a:prstGeom>
        </p:spPr>
      </p:pic>
      <p:sp>
        <p:nvSpPr>
          <p:cNvPr id="15" name="Trace caption"/>
          <p:cNvSpPr txBox="1"/>
          <p:nvPr/>
        </p:nvSpPr>
        <p:spPr>
          <a:xfrm>
            <a:off x="10226997" y="4590288"/>
            <a:ext cx="1416058" cy="1463040"/>
          </a:xfrm>
          <a:prstGeom prst="rect">
            <a:avLst/>
          </a:prstGeom>
          <a:noFill/>
          <a:ln/>
        </p:spPr>
        <p:txBody>
          <a:bodyPr wrap="square" lIns="0" tIns="0" rIns="0" bIns="0" rtlCol="0" anchor="t"/>
          <a:lstStyle/>
          <a:p>
            <a:pPr indent="0" marL="0">
              <a:buNone/>
            </a:pPr>
            <a:r>
              <a:rPr lang="en-US" sz="1100" dirty="0">
                <a:solidFill>
                  <a:schemeClr val="tx2"/>
                </a:solidFill>
              </a:rPr>
              <a:t>Mid-span displacement, exact (blue) vs Z4-20K (purple); dashed line: collapse at 0.393 s. Full-window reproduction not achieved.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COMPUTE BUDGET AND DYNAMIC PERSISTENCE</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More physics computation, longer persistence</a:t>
            </a:r>
            <a:endParaRPr lang="en-US" sz="3200" dirty="0"/>
          </a:p>
        </p:txBody>
      </p:sp>
      <p:graphicFrame>
        <p:nvGraphicFramePr>
          <p:cNvPr id="4" name="Collapse vs PDE evaluations chart" descr=""/>
          <p:cNvGraphicFramePr/>
          <p:nvPr/>
        </p:nvGraphicFramePr>
        <p:xfrm>
          <a:off x="548640" y="1417320"/>
          <a:ext cx="658368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eckpoint table"/>
          <p:cNvGraphicFramePr>
            <a:graphicFrameLocks noGrp="1"/>
          </p:cNvGraphicFramePr>
          <p:nvPr>
            <p:extLst>
              <p:ext uri="{D42A27DB-BD31-4B8C-83A1-F6EECF244321}">
                <p14:modId xmlns:p14="http://schemas.microsoft.com/office/powerpoint/2010/main" val="1579011935"/>
              </p:ext>
            </p:extLst>
          </p:nvPr>
        </p:nvGraphicFramePr>
        <p:xfrm>
          <a:off x="7543800" y="1417320"/>
          <a:ext cx="4099255" cy="914400"/>
        </p:xfrm>
        <a:graphic>
          <a:graphicData uri="http://schemas.openxmlformats.org/drawingml/2006/table">
            <a:tbl>
              <a:tblPr/>
              <a:tblGrid>
                <a:gridCol w="1143000"/>
                <a:gridCol w="1097280"/>
                <a:gridCol w="1051560"/>
                <a:gridCol w="807415"/>
              </a:tblGrid>
              <a:tr h="310896">
                <a:tc>
                  <a:txBody>
                    <a:bodyPr/>
                    <a:lstStyle/>
                    <a:p>
                      <a:pPr indent="0" marL="0">
                        <a:buNone/>
                      </a:pPr>
                      <a:r>
                        <a:rPr lang="en-US" sz="1300" b="1" dirty="0">
                          <a:solidFill>
                            <a:schemeClr val="tx1"/>
                          </a:solidFill>
                        </a:rPr>
                        <a:t>Checkpoint</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b="1" dirty="0">
                          <a:solidFill>
                            <a:schemeClr val="tx1"/>
                          </a:solidFill>
                        </a:rPr>
                        <a:t>PDE evals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b="1" dirty="0">
                          <a:solidFill>
                            <a:schemeClr val="tx1"/>
                          </a:solidFill>
                        </a:rPr>
                        <a:t>Collapse</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b="1" dirty="0">
                          <a:solidFill>
                            <a:schemeClr val="tx1"/>
                          </a:solidFill>
                        </a:rPr>
                        <a:t>Cycles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10896">
                <a:tc>
                  <a:txBody>
                    <a:bodyPr/>
                    <a:lstStyle/>
                    <a:p>
                      <a:pPr indent="0" marL="0">
                        <a:buNone/>
                      </a:pPr>
                      <a:r>
                        <a:rPr lang="en-US" sz="1300" dirty="0">
                          <a:solidFill>
                            <a:schemeClr val="tx1"/>
                          </a:solidFill>
                        </a:rPr>
                        <a:t>Y1 5k</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dirty="0">
                          <a:solidFill>
                            <a:schemeClr val="tx1"/>
                          </a:solidFill>
                        </a:rPr>
                        <a:t>160k</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dirty="0">
                          <a:solidFill>
                            <a:schemeClr val="tx1"/>
                          </a:solidFill>
                        </a:rPr>
                        <a:t>0.057 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dirty="0">
                          <a:solidFill>
                            <a:schemeClr val="tx1"/>
                          </a:solidFill>
                        </a:rPr>
                        <a:t>1.2</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10896">
                <a:tc>
                  <a:txBody>
                    <a:bodyPr/>
                    <a:lstStyle/>
                    <a:p>
                      <a:pPr indent="0" marL="0">
                        <a:buNone/>
                      </a:pPr>
                      <a:r>
                        <a:rPr lang="en-US" sz="1300" dirty="0">
                          <a:solidFill>
                            <a:schemeClr val="tx1"/>
                          </a:solidFill>
                        </a:rPr>
                        <a:t>Y1 20k</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dirty="0">
                          <a:solidFill>
                            <a:schemeClr val="tx1"/>
                          </a:solidFill>
                        </a:rPr>
                        <a:t>640k</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dirty="0">
                          <a:solidFill>
                            <a:schemeClr val="tx1"/>
                          </a:solidFill>
                        </a:rPr>
                        <a:t>0.151 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dirty="0">
                          <a:solidFill>
                            <a:schemeClr val="tx1"/>
                          </a:solidFill>
                        </a:rPr>
                        <a:t>3.1</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10896">
                <a:tc>
                  <a:txBody>
                    <a:bodyPr/>
                    <a:lstStyle/>
                    <a:p>
                      <a:pPr indent="0" marL="0">
                        <a:buNone/>
                      </a:pPr>
                      <a:r>
                        <a:rPr lang="en-US" sz="1300" dirty="0">
                          <a:solidFill>
                            <a:schemeClr val="tx1"/>
                          </a:solidFill>
                        </a:rPr>
                        <a:t>Z4 5k</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dirty="0">
                          <a:solidFill>
                            <a:schemeClr val="tx1"/>
                          </a:solidFill>
                        </a:rPr>
                        <a:t>640k</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dirty="0">
                          <a:solidFill>
                            <a:schemeClr val="tx1"/>
                          </a:solidFill>
                        </a:rPr>
                        <a:t>0.153 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dirty="0">
                          <a:solidFill>
                            <a:schemeClr val="tx1"/>
                          </a:solidFill>
                        </a:rPr>
                        <a:t>3.2</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r h="310896">
                <a:tc>
                  <a:txBody>
                    <a:bodyPr/>
                    <a:lstStyle/>
                    <a:p>
                      <a:pPr indent="0" marL="0">
                        <a:buNone/>
                      </a:pPr>
                      <a:r>
                        <a:rPr lang="en-US" sz="1300" b="1" dirty="0">
                          <a:solidFill>
                            <a:schemeClr val="tx1"/>
                          </a:solidFill>
                        </a:rPr>
                        <a:t>Z4 20k</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b="1" dirty="0">
                          <a:solidFill>
                            <a:schemeClr val="tx1"/>
                          </a:solidFill>
                        </a:rPr>
                        <a:t>2.56M</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b="1" dirty="0">
                          <a:solidFill>
                            <a:schemeClr val="tx1"/>
                          </a:solidFill>
                        </a:rPr>
                        <a:t>0.393 s</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indent="0" marL="0">
                        <a:buNone/>
                      </a:pPr>
                      <a:r>
                        <a:rPr lang="en-US" sz="1300" b="1" dirty="0">
                          <a:solidFill>
                            <a:schemeClr val="tx1"/>
                          </a:solidFill>
                        </a:rPr>
                        <a:t>8.1</a:t>
                      </a:r>
                      <a:endParaRPr lang="en-US" sz="1300" dirty="0"/>
                    </a:p>
                  </a:txBody>
                  <a:tcPr marL="73152" marR="73152" marT="27432" marB="27432">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r>
            </a:tbl>
          </a:graphicData>
        </a:graphic>
      </p:graphicFrame>
      <p:sp>
        <p:nvSpPr>
          <p:cNvPr id="6" name="Key conclusion card"/>
          <p:cNvSpPr/>
          <p:nvPr/>
        </p:nvSpPr>
        <p:spPr>
          <a:xfrm>
            <a:off x="7543800" y="3200400"/>
            <a:ext cx="4099255" cy="1417320"/>
          </a:xfrm>
          <a:prstGeom prst="roundRect">
            <a:avLst>
              <a:gd name="adj" fmla="val 5161"/>
            </a:avLst>
          </a:prstGeom>
          <a:solidFill>
            <a:schemeClr val="tx1"/>
          </a:solidFill>
          <a:ln/>
        </p:spPr>
      </p:sp>
      <p:sp>
        <p:nvSpPr>
          <p:cNvPr id="7" name="Key conclusion"/>
          <p:cNvSpPr txBox="1"/>
          <p:nvPr/>
        </p:nvSpPr>
        <p:spPr>
          <a:xfrm>
            <a:off x="7726680" y="3291840"/>
            <a:ext cx="3733495" cy="1234440"/>
          </a:xfrm>
          <a:prstGeom prst="rect">
            <a:avLst/>
          </a:prstGeom>
          <a:noFill/>
          <a:ln/>
        </p:spPr>
        <p:txBody>
          <a:bodyPr wrap="square" lIns="0" tIns="0" rIns="0" bIns="0" rtlCol="0" anchor="ctr"/>
          <a:lstStyle/>
          <a:p>
            <a:pPr indent="0" marL="0">
              <a:buNone/>
            </a:pPr>
            <a:r>
              <a:rPr lang="en-US" sz="1400" b="1" dirty="0">
                <a:solidFill>
                  <a:schemeClr val="bg1"/>
                </a:solidFill>
              </a:rPr>
              <a:t>Within the tested range, increased physics computation produced progressively longer dynamic persistence and lower error, but did not yield full-window reproduction.</a:t>
            </a:r>
            <a:endParaRPr lang="en-US" sz="1400" dirty="0"/>
          </a:p>
        </p:txBody>
      </p:sp>
      <p:sp>
        <p:nvSpPr>
          <p:cNvPr id="8" name="Attribution note"/>
          <p:cNvSpPr txBox="1"/>
          <p:nvPr/>
        </p:nvSpPr>
        <p:spPr>
          <a:xfrm>
            <a:off x="7543800" y="4754880"/>
            <a:ext cx="4099255" cy="1417320"/>
          </a:xfrm>
          <a:prstGeom prst="rect">
            <a:avLst/>
          </a:prstGeom>
          <a:noFill/>
          <a:ln/>
        </p:spPr>
        <p:txBody>
          <a:bodyPr wrap="square" lIns="0" tIns="0" rIns="0" bIns="0" rtlCol="0" anchor="t"/>
          <a:lstStyle/>
          <a:p>
            <a:pPr indent="0" marL="0">
              <a:buNone/>
            </a:pPr>
            <a:r>
              <a:rPr lang="en-US" sz="1200" b="1" dirty="0">
                <a:solidFill>
                  <a:schemeClr val="tx2"/>
                </a:solidFill>
              </a:rPr>
              <a:t>Batch size cannot be attributed independently. </a:t>
            </a:r>
            <a:pPr indent="0" marL="0">
              <a:buNone/>
            </a:pPr>
            <a:r>
              <a:rPr lang="en-US" sz="1200" dirty="0">
                <a:solidFill>
                  <a:schemeClr val="tx2"/>
                </a:solidFill>
              </a:rPr>
              <a:t>At equal 6.4e5 evaluations, mini-batch 128 (Z4 5k) and 32 (Y1 20k) reach 3.2 vs 3.1 cycles and L2 0.526 vs 0.550. The measured difference is wall-clock (611 s vs 1 078 s); there is no matched small-batch run at 2.56M. The last 6.4e5 block advanced the collapse by +0.047 s vs +0.096 s before; no extrapolation is claimed.</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indent="0" marL="0">
              <a:buNone/>
            </a:pPr>
            <a:r>
              <a:rPr lang="en-US" sz="1200" b="1" spc="100" kern="0" dirty="0">
                <a:solidFill>
                  <a:schemeClr val="accent1"/>
                </a:solidFill>
              </a:rPr>
              <a:t>CONCLUSION</a:t>
            </a:r>
            <a:endParaRPr lang="en-US" sz="1200" dirty="0"/>
          </a:p>
        </p:txBody>
      </p:sp>
      <p:sp>
        <p:nvSpPr>
          <p:cNvPr id="3" name="Text 0"/>
          <p:cNvSpPr/>
          <p:nvPr>
            <p:ph idx="101" type="title" hasCustomPrompt="1"/>
          </p:nvPr>
        </p:nvSpPr>
        <p:spPr>
          <a:xfrm>
            <a:off x="548640" y="566928"/>
            <a:ext cx="11094415" cy="658368"/>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What is established — and what is not</a:t>
            </a:r>
            <a:endParaRPr lang="en-US" sz="3200" dirty="0"/>
          </a:p>
        </p:txBody>
      </p:sp>
      <p:sp>
        <p:nvSpPr>
          <p:cNvPr id="4" name="ESTABLISHED card"/>
          <p:cNvSpPr/>
          <p:nvPr/>
        </p:nvSpPr>
        <p:spPr>
          <a:xfrm>
            <a:off x="548640" y="1325880"/>
            <a:ext cx="3515258" cy="3749040"/>
          </a:xfrm>
          <a:prstGeom prst="roundRect">
            <a:avLst>
              <a:gd name="adj" fmla="val 2081"/>
            </a:avLst>
          </a:prstGeom>
          <a:solidFill>
            <a:srgbClr val="26394A"/>
          </a:solidFill>
          <a:ln/>
        </p:spPr>
      </p:sp>
      <p:sp>
        <p:nvSpPr>
          <p:cNvPr id="5" name="ESTABLISHED marker"/>
          <p:cNvSpPr/>
          <p:nvPr/>
        </p:nvSpPr>
        <p:spPr>
          <a:xfrm>
            <a:off x="777240" y="1554480"/>
            <a:ext cx="201168" cy="201168"/>
          </a:xfrm>
          <a:prstGeom prst="ellipse">
            <a:avLst/>
          </a:prstGeom>
          <a:solidFill>
            <a:srgbClr val="2A9D8F"/>
          </a:solidFill>
          <a:ln/>
        </p:spPr>
      </p:sp>
      <p:sp>
        <p:nvSpPr>
          <p:cNvPr id="6" name="ESTABLISHED heading"/>
          <p:cNvSpPr txBox="1"/>
          <p:nvPr/>
        </p:nvSpPr>
        <p:spPr>
          <a:xfrm>
            <a:off x="1097280" y="1481328"/>
            <a:ext cx="2783738" cy="365760"/>
          </a:xfrm>
          <a:prstGeom prst="rect">
            <a:avLst/>
          </a:prstGeom>
          <a:noFill/>
          <a:ln/>
        </p:spPr>
        <p:txBody>
          <a:bodyPr wrap="square" lIns="0" tIns="0" rIns="0" bIns="0" rtlCol="0" anchor="t"/>
          <a:lstStyle/>
          <a:p>
            <a:pPr indent="0" marL="0">
              <a:buNone/>
            </a:pPr>
            <a:r>
              <a:rPr lang="en-US" sz="1600" b="1" spc="100" kern="0" dirty="0">
                <a:solidFill>
                  <a:srgbClr val="2A9D8F"/>
                </a:solidFill>
              </a:rPr>
              <a:t>ESTABLISHED</a:t>
            </a:r>
            <a:endParaRPr lang="en-US" sz="1600" dirty="0"/>
          </a:p>
        </p:txBody>
      </p:sp>
      <p:sp>
        <p:nvSpPr>
          <p:cNvPr id="7" name="ESTABLISHED items"/>
          <p:cNvSpPr txBox="1"/>
          <p:nvPr/>
        </p:nvSpPr>
        <p:spPr>
          <a:xfrm>
            <a:off x="777240" y="1965960"/>
            <a:ext cx="3103778" cy="2971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The published Fourier + NTK baseline did not reproduce the target dynamics in our controlled implementation</a:t>
            </a:r>
            <a:endParaRPr lang="en-US" sz="1400" dirty="0"/>
          </a:p>
          <a:p>
            <a:pPr marL="342900" indent="-342900">
              <a:spcAft>
                <a:spcPts val="400"/>
              </a:spcAft>
              <a:buSzPct val="100000"/>
              <a:buChar char="•"/>
            </a:pPr>
            <a:r>
              <a:rPr lang="en-US" sz="1400" dirty="0">
                <a:solidFill>
                  <a:schemeClr val="bg1"/>
                </a:solidFill>
              </a:rPr>
              <a:t>The original hard-constraint time factor (t/T)² was poorly conditioned</a:t>
            </a:r>
            <a:endParaRPr lang="en-US" sz="1400" dirty="0"/>
          </a:p>
          <a:p>
            <a:pPr marL="342900" indent="-342900">
              <a:spcAft>
                <a:spcPts val="400"/>
              </a:spcAft>
              <a:buSzPct val="100000"/>
              <a:buChar char="•"/>
            </a:pPr>
            <a:r>
              <a:rPr lang="en-US" sz="1400" dirty="0">
                <a:solidFill>
                  <a:schemeClr val="bg1"/>
                </a:solidFill>
              </a:rPr>
              <a:t>The network can represent the 20.6 Hz solution</a:t>
            </a:r>
            <a:endParaRPr lang="en-US" sz="1400" dirty="0"/>
          </a:p>
          <a:p>
            <a:pPr marL="342900" indent="-342900">
              <a:spcAft>
                <a:spcPts val="400"/>
              </a:spcAft>
              <a:buSzPct val="100000"/>
              <a:buChar char="•"/>
            </a:pPr>
            <a:r>
              <a:rPr lang="en-US" sz="1400" dirty="0">
                <a:solidFill>
                  <a:schemeClr val="bg1"/>
                </a:solidFill>
              </a:rPr>
              <a:t>LR, batch size and physics-computation budget materially affect optimization</a:t>
            </a:r>
            <a:endParaRPr lang="en-US" sz="1400" dirty="0"/>
          </a:p>
          <a:p>
            <a:pPr marL="342900" indent="-342900">
              <a:spcAft>
                <a:spcPts val="400"/>
              </a:spcAft>
              <a:buSzPct val="100000"/>
              <a:buChar char="•"/>
            </a:pPr>
            <a:r>
              <a:rPr lang="en-US" sz="1400" dirty="0">
                <a:solidFill>
                  <a:schemeClr val="bg1"/>
                </a:solidFill>
              </a:rPr>
              <a:t>RAD did not resolve the observed failure</a:t>
            </a:r>
            <a:endParaRPr lang="en-US" sz="1400" dirty="0"/>
          </a:p>
        </p:txBody>
      </p:sp>
      <p:sp>
        <p:nvSpPr>
          <p:cNvPr id="8" name="NOT ESTABLISHED card"/>
          <p:cNvSpPr/>
          <p:nvPr/>
        </p:nvSpPr>
        <p:spPr>
          <a:xfrm>
            <a:off x="4338218" y="1325880"/>
            <a:ext cx="3515258" cy="3749040"/>
          </a:xfrm>
          <a:prstGeom prst="roundRect">
            <a:avLst>
              <a:gd name="adj" fmla="val 2081"/>
            </a:avLst>
          </a:prstGeom>
          <a:solidFill>
            <a:srgbClr val="26394A"/>
          </a:solidFill>
          <a:ln/>
        </p:spPr>
      </p:sp>
      <p:sp>
        <p:nvSpPr>
          <p:cNvPr id="9" name="NOT ESTABLISHED marker"/>
          <p:cNvSpPr/>
          <p:nvPr/>
        </p:nvSpPr>
        <p:spPr>
          <a:xfrm>
            <a:off x="4566818" y="1554480"/>
            <a:ext cx="201168" cy="201168"/>
          </a:xfrm>
          <a:prstGeom prst="ellipse">
            <a:avLst/>
          </a:prstGeom>
          <a:solidFill>
            <a:srgbClr val="E8743B"/>
          </a:solidFill>
          <a:ln/>
        </p:spPr>
      </p:sp>
      <p:sp>
        <p:nvSpPr>
          <p:cNvPr id="10" name="NOT ESTABLISHED heading"/>
          <p:cNvSpPr txBox="1"/>
          <p:nvPr/>
        </p:nvSpPr>
        <p:spPr>
          <a:xfrm>
            <a:off x="4886858" y="1481328"/>
            <a:ext cx="2783738" cy="365760"/>
          </a:xfrm>
          <a:prstGeom prst="rect">
            <a:avLst/>
          </a:prstGeom>
          <a:noFill/>
          <a:ln/>
        </p:spPr>
        <p:txBody>
          <a:bodyPr wrap="square" lIns="0" tIns="0" rIns="0" bIns="0" rtlCol="0" anchor="t"/>
          <a:lstStyle/>
          <a:p>
            <a:pPr indent="0" marL="0">
              <a:buNone/>
            </a:pPr>
            <a:r>
              <a:rPr lang="en-US" sz="1600" b="1" spc="100" kern="0" dirty="0">
                <a:solidFill>
                  <a:srgbClr val="E8743B"/>
                </a:solidFill>
              </a:rPr>
              <a:t>NOT ESTABLISHED</a:t>
            </a:r>
            <a:endParaRPr lang="en-US" sz="1600" dirty="0"/>
          </a:p>
        </p:txBody>
      </p:sp>
      <p:sp>
        <p:nvSpPr>
          <p:cNvPr id="11" name="NOT ESTABLISHED items"/>
          <p:cNvSpPr txBox="1"/>
          <p:nvPr/>
        </p:nvSpPr>
        <p:spPr>
          <a:xfrm>
            <a:off x="4566818" y="1965960"/>
            <a:ext cx="3103778" cy="2971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No validated optimized PINN</a:t>
            </a:r>
            <a:endParaRPr lang="en-US" sz="1400" dirty="0"/>
          </a:p>
          <a:p>
            <a:pPr marL="342900" indent="-342900">
              <a:spcAft>
                <a:spcPts val="400"/>
              </a:spcAft>
              <a:buSzPct val="100000"/>
              <a:buChar char="•"/>
            </a:pPr>
            <a:r>
              <a:rPr lang="en-US" sz="1400" dirty="0">
                <a:solidFill>
                  <a:schemeClr val="bg1"/>
                </a:solidFill>
              </a:rPr>
              <a:t>No claim of superiority over the paper</a:t>
            </a:r>
            <a:endParaRPr lang="en-US" sz="1400" dirty="0"/>
          </a:p>
          <a:p>
            <a:pPr marL="342900" indent="-342900">
              <a:spcAft>
                <a:spcPts val="400"/>
              </a:spcAft>
              <a:buSzPct val="100000"/>
              <a:buChar char="•"/>
            </a:pPr>
            <a:r>
              <a:rPr lang="en-US" sz="1400" dirty="0">
                <a:solidFill>
                  <a:schemeClr val="bg1"/>
                </a:solidFill>
              </a:rPr>
              <a:t>No full-window Mode-1 reproduction</a:t>
            </a:r>
            <a:endParaRPr lang="en-US" sz="1400" dirty="0"/>
          </a:p>
          <a:p>
            <a:pPr marL="342900" indent="-342900">
              <a:spcAft>
                <a:spcPts val="400"/>
              </a:spcAft>
              <a:buSzPct val="100000"/>
              <a:buChar char="•"/>
            </a:pPr>
            <a:r>
              <a:rPr lang="en-US" sz="1400" dirty="0">
                <a:solidFill>
                  <a:schemeClr val="bg1"/>
                </a:solidFill>
              </a:rPr>
              <a:t>No Mode-2 generalization result</a:t>
            </a:r>
            <a:endParaRPr lang="en-US" sz="1400" dirty="0"/>
          </a:p>
        </p:txBody>
      </p:sp>
      <p:sp>
        <p:nvSpPr>
          <p:cNvPr id="12" name="NEXT card"/>
          <p:cNvSpPr/>
          <p:nvPr/>
        </p:nvSpPr>
        <p:spPr>
          <a:xfrm>
            <a:off x="8127797" y="1325880"/>
            <a:ext cx="3515258" cy="3749040"/>
          </a:xfrm>
          <a:prstGeom prst="roundRect">
            <a:avLst>
              <a:gd name="adj" fmla="val 2081"/>
            </a:avLst>
          </a:prstGeom>
          <a:solidFill>
            <a:srgbClr val="26394A"/>
          </a:solidFill>
          <a:ln/>
        </p:spPr>
      </p:sp>
      <p:sp>
        <p:nvSpPr>
          <p:cNvPr id="13" name="NEXT marker"/>
          <p:cNvSpPr/>
          <p:nvPr/>
        </p:nvSpPr>
        <p:spPr>
          <a:xfrm>
            <a:off x="8356397" y="1554480"/>
            <a:ext cx="201168" cy="201168"/>
          </a:xfrm>
          <a:prstGeom prst="ellipse">
            <a:avLst/>
          </a:prstGeom>
          <a:solidFill>
            <a:srgbClr val="E9B44C"/>
          </a:solidFill>
          <a:ln/>
        </p:spPr>
      </p:sp>
      <p:sp>
        <p:nvSpPr>
          <p:cNvPr id="14" name="NEXT heading"/>
          <p:cNvSpPr txBox="1"/>
          <p:nvPr/>
        </p:nvSpPr>
        <p:spPr>
          <a:xfrm>
            <a:off x="8676437" y="1481328"/>
            <a:ext cx="2783738" cy="365760"/>
          </a:xfrm>
          <a:prstGeom prst="rect">
            <a:avLst/>
          </a:prstGeom>
          <a:noFill/>
          <a:ln/>
        </p:spPr>
        <p:txBody>
          <a:bodyPr wrap="square" lIns="0" tIns="0" rIns="0" bIns="0" rtlCol="0" anchor="t"/>
          <a:lstStyle/>
          <a:p>
            <a:pPr indent="0" marL="0">
              <a:buNone/>
            </a:pPr>
            <a:r>
              <a:rPr lang="en-US" sz="1600" b="1" spc="100" kern="0" dirty="0">
                <a:solidFill>
                  <a:srgbClr val="E9B44C"/>
                </a:solidFill>
              </a:rPr>
              <a:t>NEXT</a:t>
            </a:r>
            <a:endParaRPr lang="en-US" sz="1600" dirty="0"/>
          </a:p>
        </p:txBody>
      </p:sp>
      <p:sp>
        <p:nvSpPr>
          <p:cNvPr id="15" name="NEXT items"/>
          <p:cNvSpPr txBox="1"/>
          <p:nvPr/>
        </p:nvSpPr>
        <p:spPr>
          <a:xfrm>
            <a:off x="8356397" y="1965960"/>
            <a:ext cx="3103778" cy="29718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400" dirty="0">
                <a:solidFill>
                  <a:schemeClr val="bg1"/>
                </a:solidFill>
              </a:rPr>
              <a:t>Independent confirmation once a genuinely successful Mode-1 candidate is found</a:t>
            </a:r>
            <a:endParaRPr lang="en-US" sz="1400" dirty="0"/>
          </a:p>
          <a:p>
            <a:pPr marL="342900" indent="-342900">
              <a:spcAft>
                <a:spcPts val="400"/>
              </a:spcAft>
              <a:buSzPct val="100000"/>
              <a:buFont typeface="+mj-lt"/>
              <a:buAutoNum type="arabicPeriod" startAt="1"/>
            </a:pPr>
            <a:r>
              <a:rPr lang="en-US" sz="1400" dirty="0">
                <a:solidFill>
                  <a:schemeClr val="bg1"/>
                </a:solidFill>
              </a:rPr>
              <a:t>Higher-frequency / Mode-2 validation</a:t>
            </a:r>
            <a:endParaRPr lang="en-US" sz="1400" dirty="0"/>
          </a:p>
          <a:p>
            <a:pPr marL="342900" indent="-342900">
              <a:spcAft>
                <a:spcPts val="400"/>
              </a:spcAft>
              <a:buSzPct val="100000"/>
              <a:buFont typeface="+mj-lt"/>
              <a:buAutoNum type="arabicPeriod" startAt="1"/>
            </a:pPr>
            <a:r>
              <a:rPr lang="en-US" sz="1400" dirty="0">
                <a:solidFill>
                  <a:schemeClr val="bg1"/>
                </a:solidFill>
              </a:rPr>
              <a:t>Extension to railway vibration / SHM physics — future work only</a:t>
            </a:r>
            <a:endParaRPr lang="en-US" sz="1400" dirty="0"/>
          </a:p>
        </p:txBody>
      </p:sp>
      <p:sp>
        <p:nvSpPr>
          <p:cNvPr id="16" name="Future work label"/>
          <p:cNvSpPr txBox="1"/>
          <p:nvPr/>
        </p:nvSpPr>
        <p:spPr>
          <a:xfrm>
            <a:off x="548640" y="5212080"/>
            <a:ext cx="11094415" cy="274320"/>
          </a:xfrm>
          <a:prstGeom prst="rect">
            <a:avLst/>
          </a:prstGeom>
          <a:noFill/>
          <a:ln/>
        </p:spPr>
        <p:txBody>
          <a:bodyPr wrap="square" lIns="0" tIns="0" rIns="0" bIns="0" rtlCol="0" anchor="t"/>
          <a:lstStyle/>
          <a:p>
            <a:pPr indent="0" marL="0">
              <a:buNone/>
            </a:pPr>
            <a:r>
              <a:rPr lang="en-US" sz="1100" b="1" spc="100" kern="0" dirty="0">
                <a:solidFill>
                  <a:schemeClr val="accent6"/>
                </a:solidFill>
              </a:rPr>
              <a:t>FUTURE WORK (not part of this study)</a:t>
            </a:r>
            <a:endParaRPr lang="en-US" sz="1100" dirty="0"/>
          </a:p>
        </p:txBody>
      </p:sp>
      <p:sp>
        <p:nvSpPr>
          <p:cNvPr id="17" name="Future node 1"/>
          <p:cNvSpPr/>
          <p:nvPr/>
        </p:nvSpPr>
        <p:spPr>
          <a:xfrm>
            <a:off x="548640" y="5541264"/>
            <a:ext cx="1962851" cy="640080"/>
          </a:xfrm>
          <a:prstGeom prst="roundRect">
            <a:avLst>
              <a:gd name="adj" fmla="val 8571"/>
            </a:avLst>
          </a:prstGeom>
          <a:solidFill>
            <a:schemeClr val="tx1"/>
          </a:solidFill>
          <a:ln w="12700">
            <a:solidFill>
              <a:schemeClr val="accent6"/>
            </a:solidFill>
            <a:prstDash val="dash"/>
          </a:ln>
        </p:spPr>
      </p:sp>
      <p:sp>
        <p:nvSpPr>
          <p:cNvPr id="18" name="Future node 1 text"/>
          <p:cNvSpPr txBox="1"/>
          <p:nvPr/>
        </p:nvSpPr>
        <p:spPr>
          <a:xfrm>
            <a:off x="640080" y="5541264"/>
            <a:ext cx="1779971" cy="640080"/>
          </a:xfrm>
          <a:prstGeom prst="rect">
            <a:avLst/>
          </a:prstGeom>
          <a:noFill/>
          <a:ln/>
        </p:spPr>
        <p:txBody>
          <a:bodyPr wrap="square" lIns="0" tIns="0" rIns="0" bIns="0" rtlCol="0" anchor="ctr"/>
          <a:lstStyle/>
          <a:p>
            <a:pPr algn="ctr" indent="0" marL="0">
              <a:buNone/>
            </a:pPr>
            <a:r>
              <a:rPr lang="en-US" sz="1200" dirty="0">
                <a:solidFill>
                  <a:schemeClr val="bg1"/>
                </a:solidFill>
              </a:rPr>
              <a:t>Beam PINN</a:t>
            </a:r>
            <a:endParaRPr lang="en-US" sz="1200" dirty="0"/>
          </a:p>
        </p:txBody>
      </p:sp>
      <p:sp>
        <p:nvSpPr>
          <p:cNvPr id="19" name="Future arrow 1"/>
          <p:cNvSpPr/>
          <p:nvPr/>
        </p:nvSpPr>
        <p:spPr>
          <a:xfrm>
            <a:off x="2557211" y="5861304"/>
            <a:ext cx="228600" cy="0"/>
          </a:xfrm>
          <a:prstGeom prst="line">
            <a:avLst/>
          </a:prstGeom>
          <a:noFill/>
          <a:ln w="15875">
            <a:solidFill>
              <a:schemeClr val="accent6"/>
            </a:solidFill>
            <a:prstDash val="solid"/>
            <a:tailEnd type="triangle"/>
          </a:ln>
        </p:spPr>
      </p:sp>
      <p:sp>
        <p:nvSpPr>
          <p:cNvPr id="20" name="Future node 2"/>
          <p:cNvSpPr/>
          <p:nvPr/>
        </p:nvSpPr>
        <p:spPr>
          <a:xfrm>
            <a:off x="2831531" y="5541264"/>
            <a:ext cx="1962851" cy="640080"/>
          </a:xfrm>
          <a:prstGeom prst="roundRect">
            <a:avLst>
              <a:gd name="adj" fmla="val 8571"/>
            </a:avLst>
          </a:prstGeom>
          <a:solidFill>
            <a:schemeClr val="tx1"/>
          </a:solidFill>
          <a:ln w="12700">
            <a:solidFill>
              <a:schemeClr val="accent6"/>
            </a:solidFill>
            <a:prstDash val="dash"/>
          </a:ln>
        </p:spPr>
      </p:sp>
      <p:sp>
        <p:nvSpPr>
          <p:cNvPr id="21" name="Future node 2 text"/>
          <p:cNvSpPr txBox="1"/>
          <p:nvPr/>
        </p:nvSpPr>
        <p:spPr>
          <a:xfrm>
            <a:off x="2922971" y="5541264"/>
            <a:ext cx="1779971" cy="640080"/>
          </a:xfrm>
          <a:prstGeom prst="rect">
            <a:avLst/>
          </a:prstGeom>
          <a:noFill/>
          <a:ln/>
        </p:spPr>
        <p:txBody>
          <a:bodyPr wrap="square" lIns="0" tIns="0" rIns="0" bIns="0" rtlCol="0" anchor="ctr"/>
          <a:lstStyle/>
          <a:p>
            <a:pPr algn="ctr" indent="0" marL="0">
              <a:buNone/>
            </a:pPr>
            <a:r>
              <a:rPr lang="en-US" sz="1200" dirty="0">
                <a:solidFill>
                  <a:schemeClr val="bg1"/>
                </a:solidFill>
              </a:rPr>
              <a:t>Railway structural / component dynamics</a:t>
            </a:r>
            <a:endParaRPr lang="en-US" sz="1200" dirty="0"/>
          </a:p>
        </p:txBody>
      </p:sp>
      <p:sp>
        <p:nvSpPr>
          <p:cNvPr id="22" name="Future arrow 2"/>
          <p:cNvSpPr/>
          <p:nvPr/>
        </p:nvSpPr>
        <p:spPr>
          <a:xfrm>
            <a:off x="4840102" y="5861304"/>
            <a:ext cx="228600" cy="0"/>
          </a:xfrm>
          <a:prstGeom prst="line">
            <a:avLst/>
          </a:prstGeom>
          <a:noFill/>
          <a:ln w="15875">
            <a:solidFill>
              <a:schemeClr val="accent6"/>
            </a:solidFill>
            <a:prstDash val="solid"/>
            <a:tailEnd type="triangle"/>
          </a:ln>
        </p:spPr>
      </p:sp>
      <p:sp>
        <p:nvSpPr>
          <p:cNvPr id="23" name="Future node 3"/>
          <p:cNvSpPr/>
          <p:nvPr/>
        </p:nvSpPr>
        <p:spPr>
          <a:xfrm>
            <a:off x="5114422" y="5541264"/>
            <a:ext cx="1962851" cy="640080"/>
          </a:xfrm>
          <a:prstGeom prst="roundRect">
            <a:avLst>
              <a:gd name="adj" fmla="val 8571"/>
            </a:avLst>
          </a:prstGeom>
          <a:solidFill>
            <a:schemeClr val="tx1"/>
          </a:solidFill>
          <a:ln w="12700">
            <a:solidFill>
              <a:schemeClr val="accent6"/>
            </a:solidFill>
            <a:prstDash val="dash"/>
          </a:ln>
        </p:spPr>
      </p:sp>
      <p:sp>
        <p:nvSpPr>
          <p:cNvPr id="24" name="Future node 3 text"/>
          <p:cNvSpPr txBox="1"/>
          <p:nvPr/>
        </p:nvSpPr>
        <p:spPr>
          <a:xfrm>
            <a:off x="5205862" y="5541264"/>
            <a:ext cx="1779971" cy="640080"/>
          </a:xfrm>
          <a:prstGeom prst="rect">
            <a:avLst/>
          </a:prstGeom>
          <a:noFill/>
          <a:ln/>
        </p:spPr>
        <p:txBody>
          <a:bodyPr wrap="square" lIns="0" tIns="0" rIns="0" bIns="0" rtlCol="0" anchor="ctr"/>
          <a:lstStyle/>
          <a:p>
            <a:pPr algn="ctr" indent="0" marL="0">
              <a:buNone/>
            </a:pPr>
            <a:r>
              <a:rPr lang="en-US" sz="1200" dirty="0">
                <a:solidFill>
                  <a:schemeClr val="bg1"/>
                </a:solidFill>
              </a:rPr>
              <a:t>Sensor-informed PINN</a:t>
            </a:r>
            <a:endParaRPr lang="en-US" sz="1200" dirty="0"/>
          </a:p>
        </p:txBody>
      </p:sp>
      <p:sp>
        <p:nvSpPr>
          <p:cNvPr id="25" name="Future arrow 3"/>
          <p:cNvSpPr/>
          <p:nvPr/>
        </p:nvSpPr>
        <p:spPr>
          <a:xfrm>
            <a:off x="7122993" y="5861304"/>
            <a:ext cx="228600" cy="0"/>
          </a:xfrm>
          <a:prstGeom prst="line">
            <a:avLst/>
          </a:prstGeom>
          <a:noFill/>
          <a:ln w="15875">
            <a:solidFill>
              <a:schemeClr val="accent6"/>
            </a:solidFill>
            <a:prstDash val="solid"/>
            <a:tailEnd type="triangle"/>
          </a:ln>
        </p:spPr>
      </p:sp>
      <p:sp>
        <p:nvSpPr>
          <p:cNvPr id="26" name="Future node 4"/>
          <p:cNvSpPr/>
          <p:nvPr/>
        </p:nvSpPr>
        <p:spPr>
          <a:xfrm>
            <a:off x="7397313" y="5541264"/>
            <a:ext cx="1962851" cy="640080"/>
          </a:xfrm>
          <a:prstGeom prst="roundRect">
            <a:avLst>
              <a:gd name="adj" fmla="val 8571"/>
            </a:avLst>
          </a:prstGeom>
          <a:solidFill>
            <a:schemeClr val="tx1"/>
          </a:solidFill>
          <a:ln w="12700">
            <a:solidFill>
              <a:schemeClr val="accent6"/>
            </a:solidFill>
            <a:prstDash val="dash"/>
          </a:ln>
        </p:spPr>
      </p:sp>
      <p:sp>
        <p:nvSpPr>
          <p:cNvPr id="27" name="Future node 4 text"/>
          <p:cNvSpPr txBox="1"/>
          <p:nvPr/>
        </p:nvSpPr>
        <p:spPr>
          <a:xfrm>
            <a:off x="7488753" y="5541264"/>
            <a:ext cx="1779971" cy="640080"/>
          </a:xfrm>
          <a:prstGeom prst="rect">
            <a:avLst/>
          </a:prstGeom>
          <a:noFill/>
          <a:ln/>
        </p:spPr>
        <p:txBody>
          <a:bodyPr wrap="square" lIns="0" tIns="0" rIns="0" bIns="0" rtlCol="0" anchor="ctr"/>
          <a:lstStyle/>
          <a:p>
            <a:pPr algn="ctr" indent="0" marL="0">
              <a:buNone/>
            </a:pPr>
            <a:r>
              <a:rPr lang="en-US" sz="1200" dirty="0">
                <a:solidFill>
                  <a:schemeClr val="bg1"/>
                </a:solidFill>
              </a:rPr>
              <a:t>Axle / bearing vibration or AE</a:t>
            </a:r>
            <a:endParaRPr lang="en-US" sz="1200" dirty="0"/>
          </a:p>
        </p:txBody>
      </p:sp>
      <p:sp>
        <p:nvSpPr>
          <p:cNvPr id="28" name="Future arrow 4"/>
          <p:cNvSpPr/>
          <p:nvPr/>
        </p:nvSpPr>
        <p:spPr>
          <a:xfrm>
            <a:off x="9405884" y="5861304"/>
            <a:ext cx="228600" cy="0"/>
          </a:xfrm>
          <a:prstGeom prst="line">
            <a:avLst/>
          </a:prstGeom>
          <a:noFill/>
          <a:ln w="15875">
            <a:solidFill>
              <a:schemeClr val="accent6"/>
            </a:solidFill>
            <a:prstDash val="solid"/>
            <a:tailEnd type="triangle"/>
          </a:ln>
        </p:spPr>
      </p:sp>
      <p:sp>
        <p:nvSpPr>
          <p:cNvPr id="29" name="Future node 5"/>
          <p:cNvSpPr/>
          <p:nvPr/>
        </p:nvSpPr>
        <p:spPr>
          <a:xfrm>
            <a:off x="9680204" y="5541264"/>
            <a:ext cx="1962851" cy="640080"/>
          </a:xfrm>
          <a:prstGeom prst="roundRect">
            <a:avLst>
              <a:gd name="adj" fmla="val 8571"/>
            </a:avLst>
          </a:prstGeom>
          <a:solidFill>
            <a:schemeClr val="tx1"/>
          </a:solidFill>
          <a:ln w="12700">
            <a:solidFill>
              <a:schemeClr val="accent6"/>
            </a:solidFill>
            <a:prstDash val="dash"/>
          </a:ln>
        </p:spPr>
      </p:sp>
      <p:sp>
        <p:nvSpPr>
          <p:cNvPr id="30" name="Future node 5 text"/>
          <p:cNvSpPr txBox="1"/>
          <p:nvPr/>
        </p:nvSpPr>
        <p:spPr>
          <a:xfrm>
            <a:off x="9771644" y="5541264"/>
            <a:ext cx="1779971" cy="640080"/>
          </a:xfrm>
          <a:prstGeom prst="rect">
            <a:avLst/>
          </a:prstGeom>
          <a:noFill/>
          <a:ln/>
        </p:spPr>
        <p:txBody>
          <a:bodyPr wrap="square" lIns="0" tIns="0" rIns="0" bIns="0" rtlCol="0" anchor="ctr"/>
          <a:lstStyle/>
          <a:p>
            <a:pPr algn="ctr" indent="0" marL="0">
              <a:buNone/>
            </a:pPr>
            <a:r>
              <a:rPr lang="en-US" sz="1200" dirty="0">
                <a:solidFill>
                  <a:schemeClr val="bg1"/>
                </a:solidFill>
              </a:rPr>
              <a:t>Physics-constrained fault estimation</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Beam Vibration Audit">
  <a:themeElements>
    <a:clrScheme name="Beam Vibration Audit">
      <a:dk1>
        <a:srgbClr val="1B2A35"/>
      </a:dk1>
      <a:lt1>
        <a:srgbClr val="FFFFFF"/>
      </a:lt1>
      <a:dk2>
        <a:srgbClr val="3C5566"/>
      </a:dk2>
      <a:lt2>
        <a:srgbClr val="EEF2F4"/>
      </a:lt2>
      <a:accent1>
        <a:srgbClr val="E8743B"/>
      </a:accent1>
      <a:accent2>
        <a:srgbClr val="2A9D8F"/>
      </a:accent2>
      <a:accent3>
        <a:srgbClr val="2F6FBF"/>
      </a:accent3>
      <a:accent4>
        <a:srgbClr val="B5473A"/>
      </a:accent4>
      <a:accent5>
        <a:srgbClr val="8A9AA6"/>
      </a:accent5>
      <a:accent6>
        <a:srgbClr val="E9B44C"/>
      </a:accent6>
      <a:hlink>
        <a:srgbClr val="2A9D8F"/>
      </a:hlink>
      <a:folHlink>
        <a:srgbClr val="8A9AA6"/>
      </a:folHlink>
    </a:clrScheme>
    <a:fontScheme name="Beam Vibration Aud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Reproducibility and Optimization of PINNs for High-Frequency Beam Vibration</dc:title>
  <dc:subject>Controlled reproducibility and optimization investigation (frozen results)</dc:subject>
  <dc:creator>PptxGenJS</dc:creator>
  <cp:lastModifiedBy>PptxGenJS</cp:lastModifiedBy>
  <cp:revision>1</cp:revision>
  <dcterms:created xsi:type="dcterms:W3CDTF">2026-10-07T00:07:42Z</dcterms:created>
  <dcterms:modified xsi:type="dcterms:W3CDTF">2026-10-07T00:07:42Z</dcterms:modified>
</cp:coreProperties>
</file>